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2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6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16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Correlacoes</c:v>
                </c:pt>
              </c:strCache>
            </c:strRef>
          </c:tx>
          <c:spPr>
            <a:solidFill>
              <a:srgbClr val="B2B2B2"/>
            </a:solidFill>
            <a:ln w="0">
              <a:noFill/>
            </a:ln>
          </c:spPr>
          <c:invertIfNegative val="0"/>
          <c:dPt>
            <c:idx val="4"/>
            <c:invertIfNegative val="0"/>
            <c:spPr>
              <a:solidFill>
                <a:srgbClr val="B2B2B2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B2B2B2"/>
              </a:solidFill>
              <a:ln w="0">
                <a:noFill/>
              </a:ln>
            </c:spPr>
          </c:dPt>
          <c:dLbls>
            <c:dLbl>
              <c:idx val="4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Tempo para resolução de problemas</c:v>
                </c:pt>
                <c:pt idx="1">
                  <c:v>Contatos do cliente com o atendimento</c:v>
                </c:pt>
                <c:pt idx="2">
                  <c:v>Número de reclamações registradas</c:v>
                </c:pt>
                <c:pt idx="3">
                  <c:v>Dias de atraso na entrega</c:v>
                </c:pt>
                <c:pt idx="4">
                  <c:v>Score interno de satisfação do cliente</c:v>
                </c:pt>
                <c:pt idx="5">
                  <c:v>Recompra em até 30 dias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-0.191392</c:v>
                </c:pt>
                <c:pt idx="1">
                  <c:v>-0.350845</c:v>
                </c:pt>
                <c:pt idx="2">
                  <c:v>-0.4968</c:v>
                </c:pt>
                <c:pt idx="3">
                  <c:v>-0.59726</c:v>
                </c:pt>
                <c:pt idx="4">
                  <c:v>0.563952</c:v>
                </c:pt>
                <c:pt idx="5">
                  <c:v>0.570324</c:v>
                </c:pt>
              </c:numCache>
            </c:numRef>
          </c:val>
        </c:ser>
        <c:gapWidth val="100"/>
        <c:overlap val="0"/>
        <c:axId val="62920047"/>
        <c:axId val="56155107"/>
      </c:barChart>
      <c:catAx>
        <c:axId val="62920047"/>
        <c:scaling>
          <c:orientation val="maxMin"/>
        </c:scaling>
        <c:delete val="0"/>
        <c:axPos val="b"/>
        <c:numFmt formatCode="[$-416]dd/mm/yyyy" sourceLinked="0"/>
        <c:majorTickMark val="in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200" b="1" u="none" strike="noStrike">
                <a:solidFill>
                  <a:srgbClr val="000000"/>
                </a:solidFill>
                <a:uFillTx/>
                <a:latin typeface="Segoe UI"/>
              </a:defRPr>
            </a:pPr>
          </a:p>
        </c:txPr>
        <c:crossAx val="56155107"/>
        <c:crosses val="autoZero"/>
        <c:auto val="1"/>
        <c:lblAlgn val="ctr"/>
        <c:lblOffset val="100"/>
        <c:noMultiLvlLbl val="0"/>
      </c:catAx>
      <c:valAx>
        <c:axId val="56155107"/>
        <c:scaling>
          <c:orientation val="minMax"/>
        </c:scaling>
        <c:delete val="1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Segoe UI"/>
              </a:defRPr>
            </a:pPr>
          </a:p>
        </c:txPr>
        <c:crossAx val="62920047"/>
        <c:crossBetween val="between"/>
      </c:valAx>
      <c:spPr>
        <a:noFill/>
        <a:ln w="0">
          <a:solidFill>
            <a:srgbClr val="B3B3B3"/>
          </a:solidFill>
        </a:ln>
      </c:spPr>
    </c:plotArea>
    <c:plotVisOnly val="1"/>
    <c:dispBlanksAs val="gap"/>
  </c:chart>
  <c:spPr>
    <a:noFill/>
    <a:ln w="3600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600" b="0" u="none" strike="noStrike">
                <a:solidFill>
                  <a:srgbClr val="000000"/>
                </a:solidFill>
                <a:uFillTx/>
                <a:latin typeface="Segoe UI"/>
              </a:rPr>
              <a:t>% De detratores por dias de atraso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Coluna 1</c:v>
                </c:pt>
              </c:strCache>
            </c:strRef>
          </c:tx>
          <c:spPr>
            <a:solidFill>
              <a:srgbClr val="C9211E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07371"/>
              </a:solidFill>
              <a:ln w="0">
                <a:noFill/>
              </a:ln>
            </c:spPr>
          </c:dPt>
          <c:dLbls>
            <c:dLbl>
              <c:idx val="0"/>
              <c:numFmt formatCode="#" sourceLinked="0"/>
              <c:txPr>
                <a:bodyPr wrap="non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Segoe U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 </c:separator>
            </c:dLbl>
            <c:numFmt formatCode="#" sourceLinked="0"/>
            <c:txPr>
              <a:bodyPr wrap="non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Segoe U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Nenhum dia</c:v>
                </c:pt>
                <c:pt idx="1">
                  <c:v>1 Dia</c:v>
                </c:pt>
                <c:pt idx="2">
                  <c:v>2 Dias</c:v>
                </c:pt>
                <c:pt idx="3">
                  <c:v>3 Dias</c:v>
                </c:pt>
                <c:pt idx="4">
                  <c:v>4 Dias</c:v>
                </c:pt>
                <c:pt idx="5">
                  <c:v>5 Dias</c:v>
                </c:pt>
                <c:pt idx="6">
                  <c:v>6+ Dias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36.5</c:v>
                </c:pt>
                <c:pt idx="1">
                  <c:v>59.7</c:v>
                </c:pt>
                <c:pt idx="2">
                  <c:v>75.4</c:v>
                </c:pt>
                <c:pt idx="3">
                  <c:v>89.7</c:v>
                </c:pt>
                <c:pt idx="4">
                  <c:v>95.9</c:v>
                </c:pt>
                <c:pt idx="5">
                  <c:v>99.1</c:v>
                </c:pt>
                <c:pt idx="6">
                  <c:v>100</c:v>
                </c:pt>
              </c:numCache>
            </c:numRef>
          </c:val>
        </c:ser>
        <c:gapWidth val="100"/>
        <c:overlap val="0"/>
        <c:axId val="2747037"/>
        <c:axId val="78699276"/>
      </c:barChart>
      <c:catAx>
        <c:axId val="2747037"/>
        <c:scaling>
          <c:orientation val="minMax"/>
        </c:scaling>
        <c:delete val="0"/>
        <c:axPos val="b"/>
        <c:numFmt formatCode="[$-416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Segoe UI"/>
              </a:defRPr>
            </a:pPr>
          </a:p>
        </c:txPr>
        <c:crossAx val="78699276"/>
        <c:crossesAt val="0"/>
        <c:auto val="1"/>
        <c:lblAlgn val="ctr"/>
        <c:lblOffset val="100"/>
        <c:noMultiLvlLbl val="0"/>
      </c:catAx>
      <c:valAx>
        <c:axId val="78699276"/>
        <c:scaling>
          <c:orientation val="minMax"/>
          <c:max val="100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Segoe UI"/>
              </a:defRPr>
            </a:pPr>
          </a:p>
        </c:txPr>
        <c:crossAx val="2747037"/>
        <c:crossesAt val="1"/>
        <c:crossBetween val="between"/>
      </c:valAx>
      <c:spPr>
        <a:noFill/>
        <a:ln w="0">
          <a:solidFill>
            <a:srgbClr val="B3B3B3"/>
          </a:solidFill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301840" y="1122480"/>
            <a:ext cx="7587360" cy="261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40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40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A29838-368B-42C1-A7B1-AF26BD3D1409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7pPr>
          </a:lstStyle>
          <a:p>
            <a:pPr marL="432000" indent="-324000" algn="l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Clique para editar o formato de texto dos tópicos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864000" lvl="1" indent="-324000" algn="l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2.º nível de tópicos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296000" lvl="2" indent="-288000" algn="l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3.º nível de tópicos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728000" lvl="3" indent="-216000" algn="l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4.º nível de tópicos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160000" lvl="4" indent="-216000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5.º nível de tópicos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592000" lvl="5" indent="-216000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6.º nível de tópicos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3024000" lvl="6" indent="-216000" algn="l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7.º nível de tópicos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51524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12720" y="1680840"/>
            <a:ext cx="10515240" cy="44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3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4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5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786A6E-B936-4559-9038-C503F9267BEE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635760" y="578520"/>
            <a:ext cx="2045880" cy="559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578520"/>
            <a:ext cx="8795880" cy="559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6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8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885ECC-FB39-4F70-BB2E-598006F34807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10653120" cy="45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9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0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EBBA15-0163-41B7-8800-E3B14B342CBC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10653120" cy="45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1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A191A8-B98D-4C03-AE8A-43103D558923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3360" y="553680"/>
            <a:ext cx="8272440" cy="40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54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5400" b="1" u="none" strike="noStrike" cap="all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3360" y="4589640"/>
            <a:ext cx="8272440" cy="13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251DE0-DDD8-4940-9515-0D41832DF4F6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74096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1272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560" y="1825560"/>
            <a:ext cx="518040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6E9E38-6BA7-418A-B3E1-EAD37CACD8C9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547560"/>
            <a:ext cx="1074528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85880"/>
            <a:ext cx="5156640" cy="5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09480" y="2386800"/>
            <a:ext cx="5156640" cy="37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172560" y="1685880"/>
            <a:ext cx="5182200" cy="5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172560" y="2386800"/>
            <a:ext cx="5182200" cy="37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19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0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sldNum" idx="21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62E7A3-1173-4F2A-84A2-25AA5B82F95D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22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3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4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A274AB-6A8E-422A-9B83-CE2987B72DED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5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6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27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309D08-052F-4ED7-A89C-C7BE7BA70A2B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80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97240" y="553680"/>
            <a:ext cx="3594600" cy="175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35040" y="553680"/>
            <a:ext cx="6279120" cy="548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685800" lvl="2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3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143000" lvl="4" indent="-228600" algn="l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97240" y="2311200"/>
            <a:ext cx="3594600" cy="3727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030405-1F5D-42C1-B24C-D3C3ADE8B38D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94360" y="557640"/>
            <a:ext cx="3594600" cy="22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title style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63760" y="657000"/>
            <a:ext cx="6482880" cy="555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  <a:lvl2pPr lvl="1" algn="l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2pPr>
            <a:lvl3pPr lvl="2" algn="l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3pPr>
            <a:lvl4pPr lvl="3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4pPr>
            <a:lvl5pPr lvl="4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5pPr>
            <a:lvl6pPr lvl="5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6pPr>
            <a:lvl7pPr lvl="6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7pPr>
          </a:lstStyle>
          <a:p>
            <a:pPr marL="432000" indent="-3240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457200" lvl="1" indent="-324000" algn="l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2.º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914400" lvl="2" indent="-288000" algn="l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3.º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371600" lvl="3" indent="-216000" algn="l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4.º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1828800" lvl="4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5.º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0" lvl="5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6.º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743200" lvl="6" indent="-216000" algn="l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7.º nível de tópicos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2826000"/>
            <a:ext cx="3584520" cy="343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7E05DE-EC59-440D-A656-800252C91B0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16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Padrão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3"/>
          <p:cNvSpPr/>
          <p:nvPr/>
        </p:nvSpPr>
        <p:spPr>
          <a:xfrm>
            <a:off x="887760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3"/>
          <p:cNvSpPr/>
          <p:nvPr/>
        </p:nvSpPr>
        <p:spPr>
          <a:xfrm>
            <a:off x="887760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175320"/>
            <a:ext cx="1097280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1_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34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35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6507A7-E282-497E-AAF7-874E9E5565FE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36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16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540720"/>
            <a:ext cx="1097280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ftr" idx="37"/>
          </p:nvPr>
        </p:nvSpPr>
        <p:spPr>
          <a:xfrm>
            <a:off x="8877240" y="6453000"/>
            <a:ext cx="28044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&lt;rodapé&gt;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8"/>
          </p:nvPr>
        </p:nvSpPr>
        <p:spPr>
          <a:xfrm>
            <a:off x="11633040" y="6453000"/>
            <a:ext cx="4276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126B79-4A94-4E52-AA8A-15C0102E045C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Neue Haas Grotesk Text Pro"/>
              </a:rPr>
              <a:t>&lt;número&gt;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9"/>
          </p:nvPr>
        </p:nvSpPr>
        <p:spPr>
          <a:xfrm>
            <a:off x="137160" y="6453000"/>
            <a:ext cx="34930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opinionbox.com/nps/segmentos-avaliados/e-commerce-e-marketplaces/" TargetMode="External"/><Relationship Id="rId2" Type="http://schemas.openxmlformats.org/officeDocument/2006/relationships/hyperlink" Target="https://www.prax.ai/blog/benchmarks-ecommerce" TargetMode="External"/><Relationship Id="rId3" Type="http://schemas.openxmlformats.org/officeDocument/2006/relationships/hyperlink" Target="https://useconverge.app/benchmarks/csat-score" TargetMode="External"/><Relationship Id="rId4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720000"/>
            <a:ext cx="4859280" cy="38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5400" b="1" u="none" strike="noStrike">
                <a:solidFill>
                  <a:schemeClr val="lt1"/>
                </a:solidFill>
                <a:effectLst/>
                <a:uFillTx/>
                <a:latin typeface="Segoe UI"/>
                <a:ea typeface="Neue Haas Grotesk Text Pro"/>
              </a:rPr>
              <a:t>1IAST</a:t>
            </a:r>
            <a:br>
              <a:rPr sz="5400"/>
            </a:br>
            <a:r>
              <a:rPr lang="pt-BR" sz="5400" b="1" u="none" strike="noStrike">
                <a:solidFill>
                  <a:schemeClr val="lt1"/>
                </a:solidFill>
                <a:effectLst/>
                <a:uFillTx/>
                <a:latin typeface="Segoe UI"/>
                <a:ea typeface="Neue Haas Grotesk Text Pro"/>
              </a:rPr>
              <a:t>Tech Challenge FASE 1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703440" y="4945680"/>
            <a:ext cx="3379320" cy="84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Dieizon A. Ferreira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Segoe UI"/>
                <a:ea typeface="Neue Haas Grotesk Text Pro"/>
              </a:rPr>
              <a:t>RM: 371888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2"/>
          <p:cNvPicPr/>
          <p:nvPr/>
        </p:nvPicPr>
        <p:blipFill>
          <a:blip r:embed="rId1"/>
          <a:srcRect l="14679" t="0" r="6" b="5"/>
          <a:stretch/>
        </p:blipFill>
        <p:spPr>
          <a:xfrm>
            <a:off x="4876560" y="0"/>
            <a:ext cx="7315200" cy="68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/>
          <p:cNvPicPr/>
          <p:nvPr/>
        </p:nvPicPr>
        <p:blipFill>
          <a:blip r:embed="rId1"/>
          <a:srcRect l="14679" t="0" r="6" b="5"/>
          <a:stretch/>
        </p:blipFill>
        <p:spPr>
          <a:xfrm>
            <a:off x="-540000" y="-1647720"/>
            <a:ext cx="12731760" cy="11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612720" y="808560"/>
            <a:ext cx="10653120" cy="51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111111"/>
                </a:solidFill>
                <a:effectLst/>
                <a:highlight>
                  <a:srgbClr val="EEEEEE"/>
                </a:highlight>
                <a:uFillTx/>
                <a:latin typeface="Segoe UI"/>
              </a:rPr>
              <a:t>Entendimento do Negócio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69080" y="551880"/>
            <a:ext cx="10690920" cy="65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Entendimento do Negócio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grpSp>
        <p:nvGrpSpPr>
          <p:cNvPr id="86" name=""/>
          <p:cNvGrpSpPr/>
          <p:nvPr/>
        </p:nvGrpSpPr>
        <p:grpSpPr>
          <a:xfrm>
            <a:off x="494640" y="1745640"/>
            <a:ext cx="3460680" cy="3958920"/>
            <a:chOff x="494640" y="1745640"/>
            <a:chExt cx="3460680" cy="3958920"/>
          </a:xfrm>
        </p:grpSpPr>
        <p:sp>
          <p:nvSpPr>
            <p:cNvPr id="87" name=""/>
            <p:cNvSpPr/>
            <p:nvPr/>
          </p:nvSpPr>
          <p:spPr>
            <a:xfrm>
              <a:off x="494640" y="1745640"/>
              <a:ext cx="3456720" cy="39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Shape 52"/>
            <p:cNvSpPr/>
            <p:nvPr/>
          </p:nvSpPr>
          <p:spPr>
            <a:xfrm>
              <a:off x="494640" y="2123280"/>
              <a:ext cx="3460680" cy="3581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pic>
        <p:nvPicPr>
          <p:cNvPr id="89" name="Imagem 5"/>
          <p:cNvPicPr/>
          <p:nvPr/>
        </p:nvPicPr>
        <p:blipFill>
          <a:blip r:embed="rId1"/>
          <a:stretch/>
        </p:blipFill>
        <p:spPr>
          <a:xfrm>
            <a:off x="1800000" y="2159280"/>
            <a:ext cx="843120" cy="821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" name=""/>
          <p:cNvGrpSpPr/>
          <p:nvPr/>
        </p:nvGrpSpPr>
        <p:grpSpPr>
          <a:xfrm>
            <a:off x="4278960" y="1728000"/>
            <a:ext cx="3460680" cy="3958920"/>
            <a:chOff x="4278960" y="1728000"/>
            <a:chExt cx="3460680" cy="3958920"/>
          </a:xfrm>
        </p:grpSpPr>
        <p:sp>
          <p:nvSpPr>
            <p:cNvPr id="91" name=""/>
            <p:cNvSpPr/>
            <p:nvPr/>
          </p:nvSpPr>
          <p:spPr>
            <a:xfrm>
              <a:off x="4278960" y="1728000"/>
              <a:ext cx="3456720" cy="39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Shape 52"/>
            <p:cNvSpPr/>
            <p:nvPr/>
          </p:nvSpPr>
          <p:spPr>
            <a:xfrm>
              <a:off x="4278960" y="2105640"/>
              <a:ext cx="3460680" cy="3581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grpSp>
        <p:nvGrpSpPr>
          <p:cNvPr id="93" name=""/>
          <p:cNvGrpSpPr/>
          <p:nvPr/>
        </p:nvGrpSpPr>
        <p:grpSpPr>
          <a:xfrm>
            <a:off x="8100360" y="1728000"/>
            <a:ext cx="3460680" cy="3958920"/>
            <a:chOff x="8100360" y="1728000"/>
            <a:chExt cx="3460680" cy="3958920"/>
          </a:xfrm>
        </p:grpSpPr>
        <p:sp>
          <p:nvSpPr>
            <p:cNvPr id="94" name=""/>
            <p:cNvSpPr/>
            <p:nvPr/>
          </p:nvSpPr>
          <p:spPr>
            <a:xfrm>
              <a:off x="8100360" y="1728000"/>
              <a:ext cx="3456720" cy="39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Shape 52"/>
            <p:cNvSpPr/>
            <p:nvPr/>
          </p:nvSpPr>
          <p:spPr>
            <a:xfrm>
              <a:off x="8100360" y="2105640"/>
              <a:ext cx="3460680" cy="3581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pic>
        <p:nvPicPr>
          <p:cNvPr id="96" name="Imagem 4"/>
          <p:cNvPicPr/>
          <p:nvPr/>
        </p:nvPicPr>
        <p:blipFill>
          <a:blip r:embed="rId2"/>
          <a:stretch/>
        </p:blipFill>
        <p:spPr>
          <a:xfrm>
            <a:off x="5580360" y="2105640"/>
            <a:ext cx="885600" cy="79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m 6"/>
          <p:cNvPicPr/>
          <p:nvPr/>
        </p:nvPicPr>
        <p:blipFill>
          <a:blip r:embed="rId3"/>
          <a:stretch/>
        </p:blipFill>
        <p:spPr>
          <a:xfrm>
            <a:off x="9459000" y="2144520"/>
            <a:ext cx="800640" cy="79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540000" y="3060000"/>
            <a:ext cx="3239280" cy="23749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Cenário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Enfrentamos um crescimento acelerado e foi percebido uma alta variabilidade no NPS entre diferentes perfis de clientes, mesmo com indicadores operacionais aparentemente semelhantes.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320360" y="3060000"/>
            <a:ext cx="3419280" cy="18874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Problema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O NPS é coletado apenas após o encerramento da jornada de compra, isso limita a capacidade de antecipar problemas e a agir de forma preventiva.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100360" y="3060000"/>
            <a:ext cx="3456720" cy="18874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Objetivo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Transformar dados operacionais como pedidos, logística e atendimento em insights acionáveis para melhorar a experiência antes da pesquisa ser aplicada.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ítulo 5"/>
          <p:cNvSpPr/>
          <p:nvPr/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914400">
              <a:lnSpc>
                <a:spcPct val="90000"/>
              </a:lnSpc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Por que o NPS é estratégico?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"/>
          <p:cNvGrpSpPr/>
          <p:nvPr/>
        </p:nvGrpSpPr>
        <p:grpSpPr>
          <a:xfrm>
            <a:off x="540000" y="1620000"/>
            <a:ext cx="6659640" cy="1258920"/>
            <a:chOff x="540000" y="1620000"/>
            <a:chExt cx="6659640" cy="1258920"/>
          </a:xfrm>
        </p:grpSpPr>
        <p:sp>
          <p:nvSpPr>
            <p:cNvPr id="103" name=""/>
            <p:cNvSpPr/>
            <p:nvPr/>
          </p:nvSpPr>
          <p:spPr>
            <a:xfrm>
              <a:off x="540000" y="1620000"/>
              <a:ext cx="6652080" cy="12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Shape 52"/>
            <p:cNvSpPr/>
            <p:nvPr/>
          </p:nvSpPr>
          <p:spPr>
            <a:xfrm>
              <a:off x="540000" y="1740240"/>
              <a:ext cx="6659640" cy="1138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pic>
        <p:nvPicPr>
          <p:cNvPr id="105" name="Imagem 7"/>
          <p:cNvPicPr/>
          <p:nvPr/>
        </p:nvPicPr>
        <p:blipFill>
          <a:blip r:embed="rId1"/>
          <a:stretch/>
        </p:blipFill>
        <p:spPr>
          <a:xfrm>
            <a:off x="540000" y="1740240"/>
            <a:ext cx="442800" cy="42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983880" y="1740240"/>
            <a:ext cx="2519280" cy="3945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Recompra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40000" y="2160000"/>
            <a:ext cx="6659640" cy="608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Promotores recompram mais, detratores tendem a abandonar a marca após experiências negativas.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" name=""/>
          <p:cNvGrpSpPr/>
          <p:nvPr/>
        </p:nvGrpSpPr>
        <p:grpSpPr>
          <a:xfrm>
            <a:off x="540000" y="3493080"/>
            <a:ext cx="6659640" cy="1258920"/>
            <a:chOff x="540000" y="3493080"/>
            <a:chExt cx="6659640" cy="1258920"/>
          </a:xfrm>
        </p:grpSpPr>
        <p:sp>
          <p:nvSpPr>
            <p:cNvPr id="109" name=""/>
            <p:cNvSpPr/>
            <p:nvPr/>
          </p:nvSpPr>
          <p:spPr>
            <a:xfrm>
              <a:off x="540000" y="3493080"/>
              <a:ext cx="6652080" cy="12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Shape 52"/>
            <p:cNvSpPr/>
            <p:nvPr/>
          </p:nvSpPr>
          <p:spPr>
            <a:xfrm>
              <a:off x="540000" y="3613320"/>
              <a:ext cx="6659640" cy="1138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grpSp>
        <p:nvGrpSpPr>
          <p:cNvPr id="111" name=""/>
          <p:cNvGrpSpPr/>
          <p:nvPr/>
        </p:nvGrpSpPr>
        <p:grpSpPr>
          <a:xfrm>
            <a:off x="540000" y="5220000"/>
            <a:ext cx="6659640" cy="1258920"/>
            <a:chOff x="540000" y="5220000"/>
            <a:chExt cx="6659640" cy="1258920"/>
          </a:xfrm>
        </p:grpSpPr>
        <p:sp>
          <p:nvSpPr>
            <p:cNvPr id="112" name=""/>
            <p:cNvSpPr/>
            <p:nvPr/>
          </p:nvSpPr>
          <p:spPr>
            <a:xfrm>
              <a:off x="540000" y="5220000"/>
              <a:ext cx="6652080" cy="12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Shape 52"/>
            <p:cNvSpPr/>
            <p:nvPr/>
          </p:nvSpPr>
          <p:spPr>
            <a:xfrm>
              <a:off x="540000" y="5340240"/>
              <a:ext cx="6659640" cy="11386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pic>
        <p:nvPicPr>
          <p:cNvPr id="114" name="Imagem 8"/>
          <p:cNvPicPr/>
          <p:nvPr/>
        </p:nvPicPr>
        <p:blipFill>
          <a:blip r:embed="rId2"/>
          <a:stretch/>
        </p:blipFill>
        <p:spPr>
          <a:xfrm>
            <a:off x="540000" y="3636000"/>
            <a:ext cx="405720" cy="40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936000" y="3613320"/>
            <a:ext cx="1978920" cy="3945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Boca a boca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40000" y="4068000"/>
            <a:ext cx="6659640" cy="608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Um promotor indica a marca espontaneamente, um detrator compartilha experiências negativas com muito mais alcance.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m 9"/>
          <p:cNvPicPr/>
          <p:nvPr/>
        </p:nvPicPr>
        <p:blipFill>
          <a:blip r:embed="rId3"/>
          <a:stretch/>
        </p:blipFill>
        <p:spPr>
          <a:xfrm>
            <a:off x="540000" y="5354640"/>
            <a:ext cx="47592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540000" y="5832000"/>
            <a:ext cx="6659640" cy="608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NPS consistentemente baixo corrói participação de mercado, pois o custo de aquisição de novos clientes supera a retenção.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008000" y="5400000"/>
            <a:ext cx="3959280" cy="3945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Market Share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"/>
          <p:cNvGrpSpPr/>
          <p:nvPr/>
        </p:nvGrpSpPr>
        <p:grpSpPr>
          <a:xfrm>
            <a:off x="7560360" y="1620000"/>
            <a:ext cx="4139280" cy="4858920"/>
            <a:chOff x="7560360" y="1620000"/>
            <a:chExt cx="4139280" cy="4858920"/>
          </a:xfrm>
        </p:grpSpPr>
        <p:sp>
          <p:nvSpPr>
            <p:cNvPr id="121" name=""/>
            <p:cNvSpPr/>
            <p:nvPr/>
          </p:nvSpPr>
          <p:spPr>
            <a:xfrm>
              <a:off x="7560360" y="1620000"/>
              <a:ext cx="4134600" cy="485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Shape 52"/>
            <p:cNvSpPr/>
            <p:nvPr/>
          </p:nvSpPr>
          <p:spPr>
            <a:xfrm>
              <a:off x="7560360" y="2083680"/>
              <a:ext cx="4139280" cy="4395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sp>
        <p:nvSpPr>
          <p:cNvPr id="123" name=""/>
          <p:cNvSpPr/>
          <p:nvPr/>
        </p:nvSpPr>
        <p:spPr>
          <a:xfrm>
            <a:off x="7740360" y="1620000"/>
            <a:ext cx="3779280" cy="42480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Indicadores de Mercado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740360" y="2340000"/>
            <a:ext cx="3779280" cy="5011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Benchmark NPS e-commerce: 56–60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Nosso: -66 (8% - 74%)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740360" y="3339000"/>
            <a:ext cx="3779280" cy="7448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Prazo de entrega médio: Entrega em até 6 dias corridos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Nosso: 8 dias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740360" y="4253760"/>
            <a:ext cx="3599280" cy="11563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Taxa média de recompra saudável: &gt;30% em 127 dias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Nosso: Estimado em 37% (Projetado para 127 dias de forma linear)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7740360" y="5580000"/>
            <a:ext cx="3599280" cy="7448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CSAT mínimo esperado pelo mercado: 82%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Nosso: 29%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3"/>
          <p:cNvPicPr/>
          <p:nvPr/>
        </p:nvPicPr>
        <p:blipFill>
          <a:blip r:embed="rId1"/>
          <a:srcRect l="14679" t="0" r="6" b="5"/>
          <a:stretch/>
        </p:blipFill>
        <p:spPr>
          <a:xfrm>
            <a:off x="-540000" y="-1647720"/>
            <a:ext cx="12731760" cy="11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612720" y="808560"/>
            <a:ext cx="10653120" cy="51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111111"/>
                </a:solidFill>
                <a:effectLst/>
                <a:highlight>
                  <a:srgbClr val="EEEEEE"/>
                </a:highlight>
                <a:uFillTx/>
                <a:latin typeface="Segoe UI"/>
              </a:rPr>
              <a:t>Analise exploratória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96720" y="512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Principais correlações entre Variáveis e NPS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31" name="Retângulo 6"/>
          <p:cNvSpPr/>
          <p:nvPr/>
        </p:nvSpPr>
        <p:spPr>
          <a:xfrm>
            <a:off x="91440" y="6522840"/>
            <a:ext cx="709920" cy="28296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Neue Haas Grotesk Text Pro"/>
            </a:endParaRPr>
          </a:p>
        </p:txBody>
      </p:sp>
      <p:graphicFrame>
        <p:nvGraphicFramePr>
          <p:cNvPr id="132" name=""/>
          <p:cNvGraphicFramePr/>
          <p:nvPr/>
        </p:nvGraphicFramePr>
        <p:xfrm>
          <a:off x="252000" y="1163160"/>
          <a:ext cx="6476760" cy="5194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33" name=""/>
          <p:cNvGrpSpPr/>
          <p:nvPr/>
        </p:nvGrpSpPr>
        <p:grpSpPr>
          <a:xfrm>
            <a:off x="6840360" y="1287720"/>
            <a:ext cx="4859280" cy="1411200"/>
            <a:chOff x="6840360" y="1287720"/>
            <a:chExt cx="4859280" cy="1411200"/>
          </a:xfrm>
        </p:grpSpPr>
        <p:sp>
          <p:nvSpPr>
            <p:cNvPr id="134" name=""/>
            <p:cNvSpPr/>
            <p:nvPr/>
          </p:nvSpPr>
          <p:spPr>
            <a:xfrm>
              <a:off x="6840360" y="1287720"/>
              <a:ext cx="4854600" cy="1411200"/>
            </a:xfrm>
            <a:prstGeom prst="rect">
              <a:avLst/>
            </a:prstGeom>
            <a:solidFill>
              <a:srgbClr val="C9211E"/>
            </a:solidFill>
            <a:ln w="36000">
              <a:solidFill>
                <a:srgbClr val="C9211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Shape 52"/>
            <p:cNvSpPr/>
            <p:nvPr/>
          </p:nvSpPr>
          <p:spPr>
            <a:xfrm>
              <a:off x="6840360" y="1422360"/>
              <a:ext cx="4859280" cy="1276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grpSp>
        <p:nvGrpSpPr>
          <p:cNvPr id="136" name=""/>
          <p:cNvGrpSpPr/>
          <p:nvPr/>
        </p:nvGrpSpPr>
        <p:grpSpPr>
          <a:xfrm>
            <a:off x="6840360" y="3074040"/>
            <a:ext cx="4859280" cy="1411200"/>
            <a:chOff x="6840360" y="3074040"/>
            <a:chExt cx="4859280" cy="1411200"/>
          </a:xfrm>
        </p:grpSpPr>
        <p:sp>
          <p:nvSpPr>
            <p:cNvPr id="137" name=""/>
            <p:cNvSpPr/>
            <p:nvPr/>
          </p:nvSpPr>
          <p:spPr>
            <a:xfrm>
              <a:off x="6840360" y="3074040"/>
              <a:ext cx="4854600" cy="1411200"/>
            </a:xfrm>
            <a:prstGeom prst="rect">
              <a:avLst/>
            </a:prstGeom>
            <a:solidFill>
              <a:srgbClr val="3D9072"/>
            </a:solidFill>
            <a:ln w="36000">
              <a:solidFill>
                <a:srgbClr val="3D90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Shape 52"/>
            <p:cNvSpPr/>
            <p:nvPr/>
          </p:nvSpPr>
          <p:spPr>
            <a:xfrm>
              <a:off x="6840360" y="3208680"/>
              <a:ext cx="4859280" cy="1276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grpSp>
        <p:nvGrpSpPr>
          <p:cNvPr id="139" name=""/>
          <p:cNvGrpSpPr/>
          <p:nvPr/>
        </p:nvGrpSpPr>
        <p:grpSpPr>
          <a:xfrm>
            <a:off x="6840360" y="4860000"/>
            <a:ext cx="4859280" cy="1411200"/>
            <a:chOff x="6840360" y="4860000"/>
            <a:chExt cx="4859280" cy="1411200"/>
          </a:xfrm>
        </p:grpSpPr>
        <p:sp>
          <p:nvSpPr>
            <p:cNvPr id="140" name=""/>
            <p:cNvSpPr/>
            <p:nvPr/>
          </p:nvSpPr>
          <p:spPr>
            <a:xfrm>
              <a:off x="6840360" y="4860000"/>
              <a:ext cx="4854600" cy="1411200"/>
            </a:xfrm>
            <a:prstGeom prst="rect">
              <a:avLst/>
            </a:prstGeom>
            <a:solidFill>
              <a:srgbClr val="E78A67"/>
            </a:solidFill>
            <a:ln w="36000">
              <a:solidFill>
                <a:srgbClr val="E78A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Shape 52"/>
            <p:cNvSpPr/>
            <p:nvPr/>
          </p:nvSpPr>
          <p:spPr>
            <a:xfrm>
              <a:off x="6840360" y="4994640"/>
              <a:ext cx="4859280" cy="1276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sp>
        <p:nvSpPr>
          <p:cNvPr id="142" name="CaixaDeTexto 1"/>
          <p:cNvSpPr/>
          <p:nvPr/>
        </p:nvSpPr>
        <p:spPr>
          <a:xfrm>
            <a:off x="7014240" y="1440000"/>
            <a:ext cx="1452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C9211E"/>
                </a:solidFill>
                <a:effectLst/>
                <a:uFillTx/>
                <a:latin typeface="Segoe UI"/>
                <a:ea typeface="Calibri"/>
              </a:rPr>
              <a:t>-0.60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aixaDeTexto 2"/>
          <p:cNvSpPr/>
          <p:nvPr/>
        </p:nvSpPr>
        <p:spPr>
          <a:xfrm>
            <a:off x="7013880" y="1980360"/>
            <a:ext cx="2255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Dias de atraso na entrega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013880" y="2340000"/>
            <a:ext cx="2255760" cy="2725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Correlação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 </a:t>
            </a: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mais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 forte </a:t>
            </a: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negativa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9"/>
          <p:cNvSpPr/>
          <p:nvPr/>
        </p:nvSpPr>
        <p:spPr>
          <a:xfrm>
            <a:off x="7012800" y="3751200"/>
            <a:ext cx="2256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Recompra em até 30 dias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ixaDeTexto 10"/>
          <p:cNvSpPr/>
          <p:nvPr/>
        </p:nvSpPr>
        <p:spPr>
          <a:xfrm>
            <a:off x="7070760" y="3232800"/>
            <a:ext cx="1317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3D9072"/>
                </a:solidFill>
                <a:effectLst/>
                <a:uFillTx/>
                <a:latin typeface="Segoe UI"/>
                <a:ea typeface="Calibri"/>
              </a:rPr>
              <a:t>+0.57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013880" y="4147200"/>
            <a:ext cx="2045880" cy="2725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Maior indicador positivo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aixaDeTexto 11"/>
          <p:cNvSpPr/>
          <p:nvPr/>
        </p:nvSpPr>
        <p:spPr>
          <a:xfrm>
            <a:off x="7012800" y="5544360"/>
            <a:ext cx="440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São detratores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aixaDeTexto 12"/>
          <p:cNvSpPr/>
          <p:nvPr/>
        </p:nvSpPr>
        <p:spPr>
          <a:xfrm>
            <a:off x="7076880" y="4991760"/>
            <a:ext cx="1452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E78A67"/>
                </a:solidFill>
                <a:effectLst/>
                <a:uFillTx/>
                <a:latin typeface="Segoe UI"/>
                <a:ea typeface="Calibri"/>
              </a:rPr>
              <a:t>74%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7012800" y="5904360"/>
            <a:ext cx="2255760" cy="27252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na base analisada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Definição da Variável Alvo (Target)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grpSp>
        <p:nvGrpSpPr>
          <p:cNvPr id="152" name=""/>
          <p:cNvGrpSpPr/>
          <p:nvPr/>
        </p:nvGrpSpPr>
        <p:grpSpPr>
          <a:xfrm>
            <a:off x="612720" y="1381320"/>
            <a:ext cx="3239280" cy="2638080"/>
            <a:chOff x="612720" y="1381320"/>
            <a:chExt cx="3239280" cy="2638080"/>
          </a:xfrm>
        </p:grpSpPr>
        <p:sp>
          <p:nvSpPr>
            <p:cNvPr id="153" name=""/>
            <p:cNvSpPr/>
            <p:nvPr/>
          </p:nvSpPr>
          <p:spPr>
            <a:xfrm>
              <a:off x="612720" y="1381320"/>
              <a:ext cx="3235680" cy="2638080"/>
            </a:xfrm>
            <a:prstGeom prst="rect">
              <a:avLst/>
            </a:prstGeom>
            <a:solidFill>
              <a:srgbClr val="A74B40"/>
            </a:solidFill>
            <a:ln w="36000">
              <a:solidFill>
                <a:srgbClr val="A74B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Detratores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Shape 52"/>
            <p:cNvSpPr/>
            <p:nvPr/>
          </p:nvSpPr>
          <p:spPr>
            <a:xfrm>
              <a:off x="612720" y="1903680"/>
              <a:ext cx="3239280" cy="2115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792000" y="1980000"/>
              <a:ext cx="2879280" cy="898920"/>
            </a:xfrm>
            <a:prstGeom prst="rect">
              <a:avLst/>
            </a:prstGeom>
            <a:solidFill>
              <a:srgbClr val="A74B40"/>
            </a:solidFill>
            <a:ln w="36000">
              <a:solidFill>
                <a:srgbClr val="A74B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NPS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0 – 6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792000" y="3240000"/>
              <a:ext cx="2879280" cy="538920"/>
            </a:xfrm>
            <a:prstGeom prst="rect">
              <a:avLst/>
            </a:prstGeom>
            <a:solidFill>
              <a:srgbClr val="A74B40"/>
            </a:solidFill>
            <a:ln w="36000">
              <a:solidFill>
                <a:srgbClr val="A74B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18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74% Clientes</a:t>
              </a: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" name=""/>
          <p:cNvGrpSpPr/>
          <p:nvPr/>
        </p:nvGrpSpPr>
        <p:grpSpPr>
          <a:xfrm>
            <a:off x="4446720" y="1381680"/>
            <a:ext cx="3239280" cy="2638080"/>
            <a:chOff x="4446720" y="1381680"/>
            <a:chExt cx="3239280" cy="2638080"/>
          </a:xfrm>
        </p:grpSpPr>
        <p:sp>
          <p:nvSpPr>
            <p:cNvPr id="158" name=""/>
            <p:cNvSpPr/>
            <p:nvPr/>
          </p:nvSpPr>
          <p:spPr>
            <a:xfrm>
              <a:off x="4446720" y="1381680"/>
              <a:ext cx="3235680" cy="2638080"/>
            </a:xfrm>
            <a:prstGeom prst="rect">
              <a:avLst/>
            </a:prstGeom>
            <a:solidFill>
              <a:srgbClr val="E78A67"/>
            </a:solidFill>
            <a:ln w="36000">
              <a:solidFill>
                <a:srgbClr val="E78A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Neutros</a:t>
              </a:r>
              <a:endPara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Shape 52"/>
            <p:cNvSpPr/>
            <p:nvPr/>
          </p:nvSpPr>
          <p:spPr>
            <a:xfrm>
              <a:off x="4446720" y="1904040"/>
              <a:ext cx="3239280" cy="2115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4626000" y="1980360"/>
              <a:ext cx="2879280" cy="898920"/>
            </a:xfrm>
            <a:prstGeom prst="rect">
              <a:avLst/>
            </a:prstGeom>
            <a:solidFill>
              <a:srgbClr val="E78A67"/>
            </a:solidFill>
            <a:ln w="36000">
              <a:solidFill>
                <a:srgbClr val="E78A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NPS</a:t>
              </a:r>
              <a:endPara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7 – 8</a:t>
              </a:r>
              <a:endPara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4626000" y="3240360"/>
              <a:ext cx="2879280" cy="538920"/>
            </a:xfrm>
            <a:prstGeom prst="rect">
              <a:avLst/>
            </a:prstGeom>
            <a:solidFill>
              <a:srgbClr val="E78A67"/>
            </a:solidFill>
            <a:ln w="36000">
              <a:solidFill>
                <a:srgbClr val="E78A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18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18% Clientes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"/>
          <p:cNvGrpSpPr/>
          <p:nvPr/>
        </p:nvGrpSpPr>
        <p:grpSpPr>
          <a:xfrm>
            <a:off x="8280720" y="1381680"/>
            <a:ext cx="3239280" cy="2638080"/>
            <a:chOff x="8280720" y="1381680"/>
            <a:chExt cx="3239280" cy="2638080"/>
          </a:xfrm>
        </p:grpSpPr>
        <p:sp>
          <p:nvSpPr>
            <p:cNvPr id="163" name=""/>
            <p:cNvSpPr/>
            <p:nvPr/>
          </p:nvSpPr>
          <p:spPr>
            <a:xfrm>
              <a:off x="8280720" y="1381680"/>
              <a:ext cx="3235680" cy="2638080"/>
            </a:xfrm>
            <a:prstGeom prst="rect">
              <a:avLst/>
            </a:prstGeom>
            <a:solidFill>
              <a:srgbClr val="3D9072"/>
            </a:solidFill>
            <a:ln w="36000">
              <a:solidFill>
                <a:srgbClr val="3D90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Promotores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Shape 52"/>
            <p:cNvSpPr/>
            <p:nvPr/>
          </p:nvSpPr>
          <p:spPr>
            <a:xfrm>
              <a:off x="8280720" y="1904040"/>
              <a:ext cx="3239280" cy="2115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8460000" y="1980360"/>
              <a:ext cx="2879280" cy="898920"/>
            </a:xfrm>
            <a:prstGeom prst="rect">
              <a:avLst/>
            </a:prstGeom>
            <a:solidFill>
              <a:srgbClr val="3D9072"/>
            </a:solidFill>
            <a:ln w="36000">
              <a:solidFill>
                <a:srgbClr val="3D90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NPS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pt-BR" sz="24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9 – 10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8460000" y="3240360"/>
              <a:ext cx="2879280" cy="538920"/>
            </a:xfrm>
            <a:prstGeom prst="rect">
              <a:avLst/>
            </a:prstGeom>
            <a:solidFill>
              <a:srgbClr val="3D9072"/>
            </a:solidFill>
            <a:ln w="36000">
              <a:solidFill>
                <a:srgbClr val="3D90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lang="pt-BR" sz="1800" b="0" u="none" strike="noStrike">
                  <a:solidFill>
                    <a:schemeClr val="lt1"/>
                  </a:solidFill>
                  <a:effectLst/>
                  <a:uFillTx/>
                  <a:latin typeface="Segoe UI"/>
                </a:rPr>
                <a:t>8% Clientes</a:t>
              </a: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"/>
          <p:cNvGrpSpPr/>
          <p:nvPr/>
        </p:nvGrpSpPr>
        <p:grpSpPr>
          <a:xfrm>
            <a:off x="606600" y="4320000"/>
            <a:ext cx="10945440" cy="1978920"/>
            <a:chOff x="606600" y="4320000"/>
            <a:chExt cx="10945440" cy="1978920"/>
          </a:xfrm>
        </p:grpSpPr>
        <p:sp>
          <p:nvSpPr>
            <p:cNvPr id="168" name=""/>
            <p:cNvSpPr/>
            <p:nvPr/>
          </p:nvSpPr>
          <p:spPr>
            <a:xfrm>
              <a:off x="606600" y="4320000"/>
              <a:ext cx="10932840" cy="1978920"/>
            </a:xfrm>
            <a:prstGeom prst="rect">
              <a:avLst/>
            </a:prstGeom>
            <a:solidFill>
              <a:srgbClr val="107371"/>
            </a:solidFill>
            <a:ln w="36000">
              <a:solidFill>
                <a:srgbClr val="1073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Shape 52"/>
            <p:cNvSpPr/>
            <p:nvPr/>
          </p:nvSpPr>
          <p:spPr>
            <a:xfrm>
              <a:off x="606600" y="4508640"/>
              <a:ext cx="10945440" cy="1790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b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</a:endParaRPr>
            </a:p>
          </p:txBody>
        </p:sp>
      </p:grpSp>
      <p:sp>
        <p:nvSpPr>
          <p:cNvPr id="170" name=""/>
          <p:cNvSpPr/>
          <p:nvPr/>
        </p:nvSpPr>
        <p:spPr>
          <a:xfrm>
            <a:off x="617760" y="4500000"/>
            <a:ext cx="11081880" cy="3945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Por que foi escolhida?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606600" y="5148000"/>
            <a:ext cx="10575720" cy="60804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O nps_score (Nota de satisfação do cliente) é a medida direta da percepção do cliente após a experiência completa de compra. É coletada de forma padronizada e representa o julgamento final da jornada.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540000" y="360000"/>
            <a:ext cx="971964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O que mais gera detratores?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540000" y="1260000"/>
            <a:ext cx="2883600" cy="56088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40000" y="1260000"/>
            <a:ext cx="288360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Variável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540240" y="1260000"/>
            <a:ext cx="1729080" cy="56088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3540240" y="1260000"/>
            <a:ext cx="172908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Detrator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5386680" y="1260000"/>
            <a:ext cx="1671840" cy="56088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386680" y="1260000"/>
            <a:ext cx="1671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Neutro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7175160" y="1260000"/>
            <a:ext cx="1671840" cy="56088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7175160" y="1260000"/>
            <a:ext cx="1671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Promotor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8964360" y="1260000"/>
            <a:ext cx="2306520" cy="56088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8964360" y="1260000"/>
            <a:ext cx="2306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Detrator vs Promotor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540000" y="1822680"/>
            <a:ext cx="2883600" cy="66636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540000" y="1822680"/>
            <a:ext cx="288360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Dias de atraso na entrega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3540240" y="1822680"/>
            <a:ext cx="1729080" cy="66636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3540240" y="1822680"/>
            <a:ext cx="17290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2.53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5386680" y="1822680"/>
            <a:ext cx="1671840" cy="66636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5386680" y="1822680"/>
            <a:ext cx="1671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97706"/>
                </a:solidFill>
                <a:effectLst/>
                <a:uFillTx/>
                <a:latin typeface="Segoe UI"/>
                <a:ea typeface="Calibri"/>
              </a:rPr>
              <a:t>1.40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7175160" y="1822680"/>
            <a:ext cx="1671840" cy="66636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7175160" y="1822680"/>
            <a:ext cx="16718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0.76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8964360" y="1822680"/>
            <a:ext cx="2306520" cy="66636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8964360" y="1822680"/>
            <a:ext cx="23065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+233%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2"/>
          <p:cNvSpPr/>
          <p:nvPr/>
        </p:nvSpPr>
        <p:spPr>
          <a:xfrm>
            <a:off x="540000" y="2549160"/>
            <a:ext cx="2883600" cy="66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540000" y="2549160"/>
            <a:ext cx="28836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Reclamações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3540240" y="2549160"/>
            <a:ext cx="1729080" cy="66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3540240" y="2549160"/>
            <a:ext cx="172908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4.62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5386680" y="2549160"/>
            <a:ext cx="1671840" cy="66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5386680" y="2549160"/>
            <a:ext cx="1671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97706"/>
                </a:solidFill>
                <a:effectLst/>
                <a:uFillTx/>
                <a:latin typeface="Segoe UI"/>
                <a:ea typeface="Calibri"/>
              </a:rPr>
              <a:t>2.99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8"/>
          <p:cNvSpPr/>
          <p:nvPr/>
        </p:nvSpPr>
        <p:spPr>
          <a:xfrm>
            <a:off x="7175160" y="2549160"/>
            <a:ext cx="1671840" cy="66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9"/>
          <p:cNvSpPr/>
          <p:nvPr/>
        </p:nvSpPr>
        <p:spPr>
          <a:xfrm>
            <a:off x="7175160" y="2549160"/>
            <a:ext cx="16718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2.39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0"/>
          <p:cNvSpPr/>
          <p:nvPr/>
        </p:nvSpPr>
        <p:spPr>
          <a:xfrm>
            <a:off x="8964360" y="2549160"/>
            <a:ext cx="2306520" cy="66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1"/>
          <p:cNvSpPr/>
          <p:nvPr/>
        </p:nvSpPr>
        <p:spPr>
          <a:xfrm>
            <a:off x="8964360" y="2549160"/>
            <a:ext cx="23065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+93%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2"/>
          <p:cNvSpPr/>
          <p:nvPr/>
        </p:nvSpPr>
        <p:spPr>
          <a:xfrm>
            <a:off x="540000" y="3276360"/>
            <a:ext cx="2883600" cy="66672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3"/>
          <p:cNvSpPr/>
          <p:nvPr/>
        </p:nvSpPr>
        <p:spPr>
          <a:xfrm>
            <a:off x="540000" y="3276360"/>
            <a:ext cx="28836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Contatos com suporte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4"/>
          <p:cNvSpPr/>
          <p:nvPr/>
        </p:nvSpPr>
        <p:spPr>
          <a:xfrm>
            <a:off x="3540240" y="3276360"/>
            <a:ext cx="1729080" cy="66672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5"/>
          <p:cNvSpPr/>
          <p:nvPr/>
        </p:nvSpPr>
        <p:spPr>
          <a:xfrm>
            <a:off x="3540240" y="3276360"/>
            <a:ext cx="17290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1.69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6"/>
          <p:cNvSpPr/>
          <p:nvPr/>
        </p:nvSpPr>
        <p:spPr>
          <a:xfrm>
            <a:off x="5386680" y="3276360"/>
            <a:ext cx="1671840" cy="66672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5386680" y="3276360"/>
            <a:ext cx="167184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97706"/>
                </a:solidFill>
                <a:effectLst/>
                <a:uFillTx/>
                <a:latin typeface="Segoe UI"/>
                <a:ea typeface="Calibri"/>
              </a:rPr>
              <a:t>1.13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8"/>
          <p:cNvSpPr/>
          <p:nvPr/>
        </p:nvSpPr>
        <p:spPr>
          <a:xfrm>
            <a:off x="7175160" y="3276360"/>
            <a:ext cx="1671840" cy="66672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9"/>
          <p:cNvSpPr/>
          <p:nvPr/>
        </p:nvSpPr>
        <p:spPr>
          <a:xfrm>
            <a:off x="7175160" y="3276360"/>
            <a:ext cx="167184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0.78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0"/>
          <p:cNvSpPr/>
          <p:nvPr/>
        </p:nvSpPr>
        <p:spPr>
          <a:xfrm>
            <a:off x="8964360" y="3276360"/>
            <a:ext cx="2306520" cy="66672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1"/>
          <p:cNvSpPr/>
          <p:nvPr/>
        </p:nvSpPr>
        <p:spPr>
          <a:xfrm>
            <a:off x="8964360" y="3276360"/>
            <a:ext cx="23065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+117%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2"/>
          <p:cNvSpPr/>
          <p:nvPr/>
        </p:nvSpPr>
        <p:spPr>
          <a:xfrm>
            <a:off x="540000" y="4003200"/>
            <a:ext cx="2883600" cy="66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3"/>
          <p:cNvSpPr/>
          <p:nvPr/>
        </p:nvSpPr>
        <p:spPr>
          <a:xfrm>
            <a:off x="540000" y="4003200"/>
            <a:ext cx="28836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Tempo de resolução (dias)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4"/>
          <p:cNvSpPr/>
          <p:nvPr/>
        </p:nvSpPr>
        <p:spPr>
          <a:xfrm>
            <a:off x="3540240" y="4003200"/>
            <a:ext cx="1729080" cy="66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5"/>
          <p:cNvSpPr/>
          <p:nvPr/>
        </p:nvSpPr>
        <p:spPr>
          <a:xfrm>
            <a:off x="3540240" y="4003200"/>
            <a:ext cx="17290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5.79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6"/>
          <p:cNvSpPr/>
          <p:nvPr/>
        </p:nvSpPr>
        <p:spPr>
          <a:xfrm>
            <a:off x="5386680" y="4003200"/>
            <a:ext cx="1671840" cy="66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7"/>
          <p:cNvSpPr/>
          <p:nvPr/>
        </p:nvSpPr>
        <p:spPr>
          <a:xfrm>
            <a:off x="5386680" y="4003200"/>
            <a:ext cx="167184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97706"/>
                </a:solidFill>
                <a:effectLst/>
                <a:uFillTx/>
                <a:latin typeface="Segoe UI"/>
                <a:ea typeface="Calibri"/>
              </a:rPr>
              <a:t>4.83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8"/>
          <p:cNvSpPr/>
          <p:nvPr/>
        </p:nvSpPr>
        <p:spPr>
          <a:xfrm>
            <a:off x="7175160" y="4003200"/>
            <a:ext cx="1671840" cy="66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9"/>
          <p:cNvSpPr/>
          <p:nvPr/>
        </p:nvSpPr>
        <p:spPr>
          <a:xfrm>
            <a:off x="7175160" y="4003200"/>
            <a:ext cx="167184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4.10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50"/>
          <p:cNvSpPr/>
          <p:nvPr/>
        </p:nvSpPr>
        <p:spPr>
          <a:xfrm>
            <a:off x="8964360" y="4003200"/>
            <a:ext cx="2306520" cy="66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1"/>
          <p:cNvSpPr/>
          <p:nvPr/>
        </p:nvSpPr>
        <p:spPr>
          <a:xfrm>
            <a:off x="8964360" y="4003200"/>
            <a:ext cx="23065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+41%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3" name=""/>
          <p:cNvGrpSpPr/>
          <p:nvPr/>
        </p:nvGrpSpPr>
        <p:grpSpPr>
          <a:xfrm>
            <a:off x="572400" y="4746240"/>
            <a:ext cx="3460680" cy="1553760"/>
            <a:chOff x="572400" y="4746240"/>
            <a:chExt cx="3460680" cy="1553760"/>
          </a:xfrm>
        </p:grpSpPr>
        <p:sp>
          <p:nvSpPr>
            <p:cNvPr id="224" name=""/>
            <p:cNvSpPr/>
            <p:nvPr/>
          </p:nvSpPr>
          <p:spPr>
            <a:xfrm>
              <a:off x="572400" y="4746240"/>
              <a:ext cx="3456720" cy="1553760"/>
            </a:xfrm>
            <a:prstGeom prst="rect">
              <a:avLst/>
            </a:prstGeom>
            <a:solidFill>
              <a:srgbClr val="A74B40"/>
            </a:solidFill>
            <a:ln w="36000">
              <a:solidFill>
                <a:srgbClr val="A74B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Shape 52"/>
            <p:cNvSpPr/>
            <p:nvPr/>
          </p:nvSpPr>
          <p:spPr>
            <a:xfrm>
              <a:off x="572400" y="4894560"/>
              <a:ext cx="3460680" cy="1405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Segoe UI"/>
                  <a:ea typeface="Calibri"/>
                </a:rPr>
                <a:t>🚚  Atraso é o fator mais crítico: detratores tem 233% mais dias de atraso que promotores.</a:t>
              </a:r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6" name=""/>
          <p:cNvGrpSpPr/>
          <p:nvPr/>
        </p:nvGrpSpPr>
        <p:grpSpPr>
          <a:xfrm>
            <a:off x="4140360" y="4745160"/>
            <a:ext cx="3460680" cy="1553760"/>
            <a:chOff x="4140360" y="4745160"/>
            <a:chExt cx="3460680" cy="1553760"/>
          </a:xfrm>
        </p:grpSpPr>
        <p:sp>
          <p:nvSpPr>
            <p:cNvPr id="227" name=""/>
            <p:cNvSpPr/>
            <p:nvPr/>
          </p:nvSpPr>
          <p:spPr>
            <a:xfrm>
              <a:off x="4140360" y="4745160"/>
              <a:ext cx="3456720" cy="1553760"/>
            </a:xfrm>
            <a:prstGeom prst="rect">
              <a:avLst/>
            </a:prstGeom>
            <a:solidFill>
              <a:srgbClr val="E78A67"/>
            </a:solidFill>
            <a:ln w="36000">
              <a:solidFill>
                <a:srgbClr val="E78A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Shape 52"/>
            <p:cNvSpPr/>
            <p:nvPr/>
          </p:nvSpPr>
          <p:spPr>
            <a:xfrm>
              <a:off x="4140360" y="4893480"/>
              <a:ext cx="3460680" cy="1405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Segoe UI"/>
                  <a:ea typeface="Calibri"/>
                </a:rPr>
                <a:t>📣  Reclamações quase dobram entre promotores e detratores.</a:t>
              </a:r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9" name=""/>
          <p:cNvGrpSpPr/>
          <p:nvPr/>
        </p:nvGrpSpPr>
        <p:grpSpPr>
          <a:xfrm>
            <a:off x="7740360" y="4745160"/>
            <a:ext cx="3460680" cy="1553760"/>
            <a:chOff x="7740360" y="4745160"/>
            <a:chExt cx="3460680" cy="1553760"/>
          </a:xfrm>
        </p:grpSpPr>
        <p:sp>
          <p:nvSpPr>
            <p:cNvPr id="230" name=""/>
            <p:cNvSpPr/>
            <p:nvPr/>
          </p:nvSpPr>
          <p:spPr>
            <a:xfrm>
              <a:off x="7740360" y="4745160"/>
              <a:ext cx="3456720" cy="1553760"/>
            </a:xfrm>
            <a:prstGeom prst="rect">
              <a:avLst/>
            </a:prstGeom>
            <a:solidFill>
              <a:srgbClr val="3D9072"/>
            </a:solidFill>
            <a:ln w="36000">
              <a:solidFill>
                <a:srgbClr val="3D90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Shape 52"/>
            <p:cNvSpPr/>
            <p:nvPr/>
          </p:nvSpPr>
          <p:spPr>
            <a:xfrm>
              <a:off x="7740360" y="4893480"/>
              <a:ext cx="3460680" cy="1405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algn="bl" blurRad="101520" dir="8100000" dist="37674" kx="0" ky="0" rotWithShape="0" sx="100000" sy="100000">
                <a:srgbClr val="000000">
                  <a:alpha val="1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u="none" strike="noStrike">
                  <a:solidFill>
                    <a:srgbClr val="000000"/>
                  </a:solidFill>
                  <a:effectLst/>
                  <a:uFillTx/>
                  <a:latin typeface="Segoe UI"/>
                  <a:ea typeface="Calibri"/>
                </a:rPr>
                <a:t>🎧  Quem aciona o suporte mais de 1x tem NPS 117% pior, loop de contato é sintoma de não resolução.</a:t>
              </a:r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8721360" y="1506600"/>
            <a:ext cx="3030120" cy="4792320"/>
          </a:xfrm>
          <a:prstGeom prst="rect">
            <a:avLst/>
          </a:prstGeom>
          <a:solidFill>
            <a:srgbClr val="FFFFFF"/>
          </a:solidFill>
          <a:ln w="36000">
            <a:solidFill>
              <a:srgbClr val="1073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59000" y="1497960"/>
            <a:ext cx="8019000" cy="4787640"/>
          </a:xfrm>
          <a:prstGeom prst="rect">
            <a:avLst/>
          </a:prstGeom>
          <a:solidFill>
            <a:srgbClr val="FFFFFF"/>
          </a:solidFill>
          <a:ln w="36000">
            <a:solidFill>
              <a:srgbClr val="1073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396000" y="360360"/>
            <a:ext cx="971964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Ponto de ruptura na experiência do cliente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"/>
          <p:cNvGraphicFramePr/>
          <p:nvPr/>
        </p:nvGraphicFramePr>
        <p:xfrm>
          <a:off x="360000" y="1332000"/>
          <a:ext cx="8262000" cy="502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6" name="Text 2"/>
          <p:cNvSpPr/>
          <p:nvPr/>
        </p:nvSpPr>
        <p:spPr>
          <a:xfrm>
            <a:off x="8691840" y="1620000"/>
            <a:ext cx="28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⚡ Ruptura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8775000" y="2340000"/>
            <a:ext cx="2925000" cy="3492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8691840" y="2625120"/>
            <a:ext cx="3008160" cy="9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400" b="1" u="none" strike="noStrike">
                <a:solidFill>
                  <a:srgbClr val="F10D0C"/>
                </a:solidFill>
                <a:effectLst/>
                <a:uFillTx/>
                <a:latin typeface="Calibri"/>
                <a:ea typeface="Calibri"/>
              </a:rPr>
              <a:t>1 DIA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8820720" y="3464280"/>
            <a:ext cx="2930760" cy="10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de atraso já coloca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a maioria dos clientes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como detratores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8784720" y="4644000"/>
            <a:ext cx="2925000" cy="3492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6"/>
          <p:cNvSpPr/>
          <p:nvPr/>
        </p:nvSpPr>
        <p:spPr>
          <a:xfrm>
            <a:off x="8784720" y="4824000"/>
            <a:ext cx="287928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Nenhum dia -&gt; </a:t>
            </a:r>
            <a:r>
              <a:rPr lang="pt-BR" sz="1600" b="1" u="none" strike="noStrike">
                <a:solidFill>
                  <a:srgbClr val="107371"/>
                </a:solidFill>
                <a:effectLst/>
                <a:uFillTx/>
                <a:latin typeface="Segoe UI"/>
                <a:ea typeface="Calibri"/>
              </a:rPr>
              <a:t>37%</a:t>
            </a: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 detratores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1 dia  -&gt; </a:t>
            </a:r>
            <a:r>
              <a:rPr lang="pt-BR" sz="1600" b="1" u="none" strike="noStrike">
                <a:solidFill>
                  <a:srgbClr val="F10D0C"/>
                </a:solidFill>
                <a:effectLst/>
                <a:uFillTx/>
                <a:latin typeface="Segoe UI"/>
                <a:ea typeface="Calibri"/>
              </a:rPr>
              <a:t>60%</a:t>
            </a: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 detratores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>
            <a:off x="540000" y="360000"/>
            <a:ext cx="10980000" cy="6076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4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Que tipo de cliente tem nps mais alto ou mais baixo?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6"/>
          <p:cNvSpPr/>
          <p:nvPr/>
        </p:nvSpPr>
        <p:spPr>
          <a:xfrm>
            <a:off x="582120" y="1185120"/>
            <a:ext cx="10639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i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Perfil de quem NÃO recomprou vs. quem recomprou em 30 dias (correlação +0.57 com NPS)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540000" y="1635120"/>
            <a:ext cx="3699720" cy="54720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4"/>
          <p:cNvSpPr/>
          <p:nvPr/>
        </p:nvSpPr>
        <p:spPr>
          <a:xfrm>
            <a:off x="540000" y="1635120"/>
            <a:ext cx="36997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Variável Operacional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9"/>
          <p:cNvSpPr/>
          <p:nvPr/>
        </p:nvSpPr>
        <p:spPr>
          <a:xfrm>
            <a:off x="4298760" y="1635120"/>
            <a:ext cx="2427840" cy="54720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5"/>
          <p:cNvSpPr/>
          <p:nvPr/>
        </p:nvSpPr>
        <p:spPr>
          <a:xfrm>
            <a:off x="4298760" y="1635120"/>
            <a:ext cx="24278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Não Recomprou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1"/>
          <p:cNvSpPr/>
          <p:nvPr/>
        </p:nvSpPr>
        <p:spPr>
          <a:xfrm>
            <a:off x="6785280" y="1635120"/>
            <a:ext cx="2427840" cy="54720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56"/>
          <p:cNvSpPr/>
          <p:nvPr/>
        </p:nvSpPr>
        <p:spPr>
          <a:xfrm>
            <a:off x="6785280" y="1635120"/>
            <a:ext cx="24278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Recomprou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3"/>
          <p:cNvSpPr/>
          <p:nvPr/>
        </p:nvSpPr>
        <p:spPr>
          <a:xfrm>
            <a:off x="9272520" y="1635120"/>
            <a:ext cx="2427480" cy="54720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7"/>
          <p:cNvSpPr/>
          <p:nvPr/>
        </p:nvSpPr>
        <p:spPr>
          <a:xfrm>
            <a:off x="9272520" y="1635120"/>
            <a:ext cx="24274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Diferença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4"/>
          <p:cNvSpPr/>
          <p:nvPr/>
        </p:nvSpPr>
        <p:spPr>
          <a:xfrm>
            <a:off x="540000" y="2183760"/>
            <a:ext cx="369972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8"/>
          <p:cNvSpPr/>
          <p:nvPr/>
        </p:nvSpPr>
        <p:spPr>
          <a:xfrm>
            <a:off x="540000" y="2183760"/>
            <a:ext cx="3699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761"/>
                </a:solidFill>
                <a:effectLst/>
                <a:uFillTx/>
                <a:latin typeface="Segoe UI"/>
                <a:ea typeface="Calibri"/>
              </a:rPr>
              <a:t>Dias de atraso na entrega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55"/>
          <p:cNvSpPr/>
          <p:nvPr/>
        </p:nvSpPr>
        <p:spPr>
          <a:xfrm>
            <a:off x="4298760" y="2183760"/>
            <a:ext cx="242784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9"/>
          <p:cNvSpPr/>
          <p:nvPr/>
        </p:nvSpPr>
        <p:spPr>
          <a:xfrm>
            <a:off x="4298760" y="218376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2.53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6"/>
          <p:cNvSpPr/>
          <p:nvPr/>
        </p:nvSpPr>
        <p:spPr>
          <a:xfrm>
            <a:off x="6785280" y="2183760"/>
            <a:ext cx="242784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0"/>
          <p:cNvSpPr/>
          <p:nvPr/>
        </p:nvSpPr>
        <p:spPr>
          <a:xfrm>
            <a:off x="6785280" y="218376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0.62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7"/>
          <p:cNvSpPr/>
          <p:nvPr/>
        </p:nvSpPr>
        <p:spPr>
          <a:xfrm>
            <a:off x="9272520" y="2183760"/>
            <a:ext cx="242748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1"/>
          <p:cNvSpPr/>
          <p:nvPr/>
        </p:nvSpPr>
        <p:spPr>
          <a:xfrm>
            <a:off x="9272520" y="2183760"/>
            <a:ext cx="2427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+208%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8"/>
          <p:cNvSpPr/>
          <p:nvPr/>
        </p:nvSpPr>
        <p:spPr>
          <a:xfrm>
            <a:off x="540000" y="2976120"/>
            <a:ext cx="369972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2"/>
          <p:cNvSpPr/>
          <p:nvPr/>
        </p:nvSpPr>
        <p:spPr>
          <a:xfrm>
            <a:off x="540000" y="2976120"/>
            <a:ext cx="3699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761"/>
                </a:solidFill>
                <a:effectLst/>
                <a:uFillTx/>
                <a:latin typeface="Segoe UI"/>
                <a:ea typeface="Calibri"/>
              </a:rPr>
              <a:t>Reclamações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9"/>
          <p:cNvSpPr/>
          <p:nvPr/>
        </p:nvSpPr>
        <p:spPr>
          <a:xfrm>
            <a:off x="4298760" y="2976120"/>
            <a:ext cx="242784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3"/>
          <p:cNvSpPr/>
          <p:nvPr/>
        </p:nvSpPr>
        <p:spPr>
          <a:xfrm>
            <a:off x="4298760" y="297612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4.47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0"/>
          <p:cNvSpPr/>
          <p:nvPr/>
        </p:nvSpPr>
        <p:spPr>
          <a:xfrm>
            <a:off x="6785280" y="2976120"/>
            <a:ext cx="242784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4"/>
          <p:cNvSpPr/>
          <p:nvPr/>
        </p:nvSpPr>
        <p:spPr>
          <a:xfrm>
            <a:off x="6785280" y="297612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2.50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61"/>
          <p:cNvSpPr/>
          <p:nvPr/>
        </p:nvSpPr>
        <p:spPr>
          <a:xfrm>
            <a:off x="9272520" y="2976120"/>
            <a:ext cx="242748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5"/>
          <p:cNvSpPr/>
          <p:nvPr/>
        </p:nvSpPr>
        <p:spPr>
          <a:xfrm>
            <a:off x="9272520" y="2976120"/>
            <a:ext cx="2427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+79%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62"/>
          <p:cNvSpPr/>
          <p:nvPr/>
        </p:nvSpPr>
        <p:spPr>
          <a:xfrm>
            <a:off x="540000" y="3768480"/>
            <a:ext cx="369972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6"/>
          <p:cNvSpPr/>
          <p:nvPr/>
        </p:nvSpPr>
        <p:spPr>
          <a:xfrm>
            <a:off x="540000" y="3768480"/>
            <a:ext cx="3699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761"/>
                </a:solidFill>
                <a:effectLst/>
                <a:uFillTx/>
                <a:latin typeface="Segoe UI"/>
                <a:ea typeface="Calibri"/>
              </a:rPr>
              <a:t>Contatos com suporte (média)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3"/>
          <p:cNvSpPr/>
          <p:nvPr/>
        </p:nvSpPr>
        <p:spPr>
          <a:xfrm>
            <a:off x="4298760" y="3768480"/>
            <a:ext cx="242784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7"/>
          <p:cNvSpPr/>
          <p:nvPr/>
        </p:nvSpPr>
        <p:spPr>
          <a:xfrm>
            <a:off x="4298760" y="376848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1.77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64"/>
          <p:cNvSpPr/>
          <p:nvPr/>
        </p:nvSpPr>
        <p:spPr>
          <a:xfrm>
            <a:off x="6785280" y="3768480"/>
            <a:ext cx="242784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8"/>
          <p:cNvSpPr/>
          <p:nvPr/>
        </p:nvSpPr>
        <p:spPr>
          <a:xfrm>
            <a:off x="6785280" y="376848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0.89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65"/>
          <p:cNvSpPr/>
          <p:nvPr/>
        </p:nvSpPr>
        <p:spPr>
          <a:xfrm>
            <a:off x="9272520" y="3768480"/>
            <a:ext cx="2427480" cy="730080"/>
          </a:xfrm>
          <a:prstGeom prst="rect">
            <a:avLst/>
          </a:prstGeom>
          <a:solidFill>
            <a:srgbClr val="F4F6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9"/>
          <p:cNvSpPr/>
          <p:nvPr/>
        </p:nvSpPr>
        <p:spPr>
          <a:xfrm>
            <a:off x="9272520" y="3768480"/>
            <a:ext cx="2427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+99%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66"/>
          <p:cNvSpPr/>
          <p:nvPr/>
        </p:nvSpPr>
        <p:spPr>
          <a:xfrm>
            <a:off x="540000" y="4560840"/>
            <a:ext cx="369972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70"/>
          <p:cNvSpPr/>
          <p:nvPr/>
        </p:nvSpPr>
        <p:spPr>
          <a:xfrm>
            <a:off x="540000" y="4560840"/>
            <a:ext cx="36997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761"/>
                </a:solidFill>
                <a:effectLst/>
                <a:uFillTx/>
                <a:latin typeface="Segoe UI"/>
                <a:ea typeface="Calibri"/>
              </a:rPr>
              <a:t>Tempo de resolução (dias)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7"/>
          <p:cNvSpPr/>
          <p:nvPr/>
        </p:nvSpPr>
        <p:spPr>
          <a:xfrm>
            <a:off x="4298760" y="4560840"/>
            <a:ext cx="242784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1"/>
          <p:cNvSpPr/>
          <p:nvPr/>
        </p:nvSpPr>
        <p:spPr>
          <a:xfrm>
            <a:off x="4298760" y="456084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5.87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8"/>
          <p:cNvSpPr/>
          <p:nvPr/>
        </p:nvSpPr>
        <p:spPr>
          <a:xfrm>
            <a:off x="6785280" y="4560840"/>
            <a:ext cx="242784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72"/>
          <p:cNvSpPr/>
          <p:nvPr/>
        </p:nvSpPr>
        <p:spPr>
          <a:xfrm>
            <a:off x="6785280" y="4560840"/>
            <a:ext cx="24278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6A34A"/>
                </a:solidFill>
                <a:effectLst/>
                <a:uFillTx/>
                <a:latin typeface="Segoe UI"/>
                <a:ea typeface="Calibri"/>
              </a:rPr>
              <a:t>4.29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69"/>
          <p:cNvSpPr/>
          <p:nvPr/>
        </p:nvSpPr>
        <p:spPr>
          <a:xfrm>
            <a:off x="9272520" y="4560840"/>
            <a:ext cx="2427480" cy="730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3"/>
          <p:cNvSpPr/>
          <p:nvPr/>
        </p:nvSpPr>
        <p:spPr>
          <a:xfrm>
            <a:off x="9272520" y="4560840"/>
            <a:ext cx="24274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DC2626"/>
                </a:solidFill>
                <a:effectLst/>
                <a:uFillTx/>
                <a:latin typeface="Segoe UI"/>
                <a:ea typeface="Calibri"/>
              </a:rPr>
              <a:t>+37%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70"/>
          <p:cNvSpPr/>
          <p:nvPr/>
        </p:nvSpPr>
        <p:spPr>
          <a:xfrm>
            <a:off x="596160" y="5580000"/>
            <a:ext cx="11042640" cy="898920"/>
          </a:xfrm>
          <a:prstGeom prst="rect">
            <a:avLst/>
          </a:prstGeom>
          <a:solidFill>
            <a:srgbClr val="1073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5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   Clientes com problemas não resolvidos rapidamente entram em loop de contato -&gt; desgaste -&gt; não recompram -&gt; NPS baixo.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4"/>
          <p:cNvPicPr/>
          <p:nvPr/>
        </p:nvPicPr>
        <p:blipFill>
          <a:blip r:embed="rId1"/>
          <a:srcRect l="14679" t="0" r="6" b="5"/>
          <a:stretch/>
        </p:blipFill>
        <p:spPr>
          <a:xfrm>
            <a:off x="-540000" y="-1647720"/>
            <a:ext cx="12731760" cy="11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PlaceHolder 1"/>
          <p:cNvSpPr>
            <a:spLocks noGrp="1"/>
          </p:cNvSpPr>
          <p:nvPr>
            <p:ph type="subTitle"/>
          </p:nvPr>
        </p:nvSpPr>
        <p:spPr>
          <a:xfrm>
            <a:off x="612720" y="808560"/>
            <a:ext cx="10653120" cy="51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111111"/>
                </a:solidFill>
                <a:effectLst/>
                <a:highlight>
                  <a:srgbClr val="EEEEEE"/>
                </a:highlight>
                <a:uFillTx/>
                <a:latin typeface="Segoe UI"/>
              </a:rPr>
              <a:t>Como antecipar o detrator?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360000" y="360000"/>
            <a:ext cx="11340000" cy="5763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Modelo de classificação diário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536760" y="2706480"/>
            <a:ext cx="11343600" cy="80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7080" rIns="90000" bIns="370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0"/>
          <p:cNvSpPr/>
          <p:nvPr/>
        </p:nvSpPr>
        <p:spPr>
          <a:xfrm>
            <a:off x="549000" y="2122920"/>
            <a:ext cx="426600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Jornada do Pedido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4572360" y="2097000"/>
            <a:ext cx="62996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Modelo roda diariamente, quanto mais tarde na jornada, mais preciso.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1939320" y="2516400"/>
            <a:ext cx="461520" cy="461880"/>
          </a:xfrm>
          <a:prstGeom prst="ellipse">
            <a:avLst/>
          </a:prstGeom>
          <a:solidFill>
            <a:srgbClr val="00A9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5"/>
          <p:cNvSpPr/>
          <p:nvPr/>
        </p:nvSpPr>
        <p:spPr>
          <a:xfrm>
            <a:off x="5884200" y="2516400"/>
            <a:ext cx="461520" cy="461880"/>
          </a:xfrm>
          <a:prstGeom prst="ellipse">
            <a:avLst/>
          </a:prstGeom>
          <a:solidFill>
            <a:srgbClr val="E78A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0"/>
          <p:cNvSpPr/>
          <p:nvPr/>
        </p:nvSpPr>
        <p:spPr>
          <a:xfrm>
            <a:off x="9828720" y="2516400"/>
            <a:ext cx="461520" cy="46188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4500360" y="1493640"/>
            <a:ext cx="6299640" cy="48636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300" b="0" i="1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O modelo classifica cada pedido ativo como Provável Detrator, com base no padrão histórico de clientes que deram nota 0 - 6. 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5" name=""/>
          <p:cNvGrpSpPr/>
          <p:nvPr/>
        </p:nvGrpSpPr>
        <p:grpSpPr>
          <a:xfrm>
            <a:off x="540360" y="3195000"/>
            <a:ext cx="3502800" cy="3341880"/>
            <a:chOff x="540360" y="3195000"/>
            <a:chExt cx="3502800" cy="3341880"/>
          </a:xfrm>
        </p:grpSpPr>
        <p:grpSp>
          <p:nvGrpSpPr>
            <p:cNvPr id="296" name=""/>
            <p:cNvGrpSpPr/>
            <p:nvPr/>
          </p:nvGrpSpPr>
          <p:grpSpPr>
            <a:xfrm>
              <a:off x="540360" y="3195000"/>
              <a:ext cx="3502800" cy="3341880"/>
              <a:chOff x="540360" y="3195000"/>
              <a:chExt cx="3502800" cy="3341880"/>
            </a:xfrm>
          </p:grpSpPr>
          <p:sp>
            <p:nvSpPr>
              <p:cNvPr id="297" name=""/>
              <p:cNvSpPr/>
              <p:nvPr/>
            </p:nvSpPr>
            <p:spPr>
              <a:xfrm>
                <a:off x="540360" y="3195000"/>
                <a:ext cx="3499200" cy="3341880"/>
              </a:xfrm>
              <a:prstGeom prst="rect">
                <a:avLst/>
              </a:prstGeom>
              <a:solidFill>
                <a:srgbClr val="00A933"/>
              </a:solidFill>
              <a:ln w="36000">
                <a:solidFill>
                  <a:srgbClr val="00A93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Shape 52"/>
              <p:cNvSpPr/>
              <p:nvPr/>
            </p:nvSpPr>
            <p:spPr>
              <a:xfrm>
                <a:off x="540360" y="3295440"/>
                <a:ext cx="3502800" cy="3241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299" name=""/>
            <p:cNvSpPr/>
            <p:nvPr/>
          </p:nvSpPr>
          <p:spPr>
            <a:xfrm>
              <a:off x="606240" y="3376800"/>
              <a:ext cx="3367440" cy="31824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500" b="1" u="none" strike="noStrike">
                  <a:solidFill>
                    <a:srgbClr val="00A933"/>
                  </a:solidFill>
                  <a:effectLst/>
                  <a:uFillTx/>
                  <a:latin typeface="Segoe UI"/>
                  <a:ea typeface="Calibri"/>
                </a:rPr>
                <a:t>🛒  Pedido realizado</a:t>
              </a:r>
              <a:endPara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658080" y="3827160"/>
              <a:ext cx="3272400" cy="380160"/>
            </a:xfrm>
            <a:prstGeom prst="rect">
              <a:avLst/>
            </a:prstGeom>
            <a:solidFill>
              <a:srgbClr val="EEEEEE"/>
            </a:solidFill>
            <a:ln w="36000">
              <a:solidFill>
                <a:srgbClr val="EEEEE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400" b="1" u="none" strike="noStrike">
                  <a:solidFill>
                    <a:srgbClr val="00A933"/>
                  </a:solidFill>
                  <a:effectLst/>
                  <a:uFillTx/>
                  <a:latin typeface="Segoe UI"/>
                  <a:ea typeface="Calibri"/>
                </a:rPr>
                <a:t>Sinal fraco</a:t>
              </a:r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580320" y="4364280"/>
              <a:ext cx="3436920" cy="146412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order_value (valor pedido)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freight_value (valor frete)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customer_tenure_months (meses de relacionamento com o cliente)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discount_value (valor de desconto)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histórico do cliente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2" name=""/>
          <p:cNvGrpSpPr/>
          <p:nvPr/>
        </p:nvGrpSpPr>
        <p:grpSpPr>
          <a:xfrm>
            <a:off x="4415760" y="3195000"/>
            <a:ext cx="3502800" cy="3341880"/>
            <a:chOff x="4415760" y="3195000"/>
            <a:chExt cx="3502800" cy="3341880"/>
          </a:xfrm>
        </p:grpSpPr>
        <p:grpSp>
          <p:nvGrpSpPr>
            <p:cNvPr id="303" name=""/>
            <p:cNvGrpSpPr/>
            <p:nvPr/>
          </p:nvGrpSpPr>
          <p:grpSpPr>
            <a:xfrm>
              <a:off x="4415760" y="3195000"/>
              <a:ext cx="3502800" cy="3341880"/>
              <a:chOff x="4415760" y="3195000"/>
              <a:chExt cx="3502800" cy="3341880"/>
            </a:xfrm>
          </p:grpSpPr>
          <p:sp>
            <p:nvSpPr>
              <p:cNvPr id="304" name=""/>
              <p:cNvSpPr/>
              <p:nvPr/>
            </p:nvSpPr>
            <p:spPr>
              <a:xfrm>
                <a:off x="4415760" y="3195000"/>
                <a:ext cx="3499200" cy="3341880"/>
              </a:xfrm>
              <a:prstGeom prst="rect">
                <a:avLst/>
              </a:prstGeom>
              <a:solidFill>
                <a:srgbClr val="E78A67"/>
              </a:solidFill>
              <a:ln w="36000">
                <a:solidFill>
                  <a:srgbClr val="E78A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Shape 52"/>
              <p:cNvSpPr/>
              <p:nvPr/>
            </p:nvSpPr>
            <p:spPr>
              <a:xfrm>
                <a:off x="4415760" y="3295440"/>
                <a:ext cx="3502800" cy="3241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grpSp>
          <p:nvGrpSpPr>
            <p:cNvPr id="306" name=""/>
            <p:cNvGrpSpPr/>
            <p:nvPr/>
          </p:nvGrpSpPr>
          <p:grpSpPr>
            <a:xfrm>
              <a:off x="4455720" y="3376800"/>
              <a:ext cx="3436920" cy="1625760"/>
              <a:chOff x="4455720" y="3376800"/>
              <a:chExt cx="3436920" cy="1625760"/>
            </a:xfrm>
          </p:grpSpPr>
          <p:sp>
            <p:nvSpPr>
              <p:cNvPr id="307" name=""/>
              <p:cNvSpPr/>
              <p:nvPr/>
            </p:nvSpPr>
            <p:spPr>
              <a:xfrm>
                <a:off x="4481640" y="3376800"/>
                <a:ext cx="3367440" cy="318240"/>
              </a:xfrm>
              <a:prstGeom prst="rect">
                <a:avLst/>
              </a:prstGeom>
              <a:noFill/>
              <a:ln w="360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 anchorCtr="1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pt-BR" sz="1500" b="1" u="none" strike="noStrike">
                    <a:solidFill>
                      <a:srgbClr val="E78A67"/>
                    </a:solidFill>
                    <a:effectLst/>
                    <a:uFillTx/>
                    <a:latin typeface="Segoe UI"/>
                    <a:ea typeface="Calibri"/>
                  </a:rPr>
                  <a:t>🚚  Em Transporte</a:t>
                </a:r>
                <a:endParaRPr lang="pt-BR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"/>
              <p:cNvSpPr/>
              <p:nvPr/>
            </p:nvSpPr>
            <p:spPr>
              <a:xfrm>
                <a:off x="4533480" y="3827160"/>
                <a:ext cx="3272400" cy="380160"/>
              </a:xfrm>
              <a:prstGeom prst="rect">
                <a:avLst/>
              </a:prstGeom>
              <a:solidFill>
                <a:srgbClr val="EEEEEE"/>
              </a:solidFill>
              <a:ln w="36000">
                <a:solidFill>
                  <a:srgbClr val="EEEEE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pt-BR" sz="1400" b="1" u="none" strike="noStrike">
                    <a:solidFill>
                      <a:srgbClr val="E78A67"/>
                    </a:solidFill>
                    <a:effectLst/>
                    <a:uFillTx/>
                    <a:latin typeface="Segoe UI"/>
                    <a:ea typeface="Calibri"/>
                  </a:rPr>
                  <a:t>Sinal moderado</a:t>
                </a:r>
                <a:endParaRPr lang="pt-BR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"/>
              <p:cNvSpPr/>
              <p:nvPr/>
            </p:nvSpPr>
            <p:spPr>
              <a:xfrm>
                <a:off x="4455720" y="4364280"/>
                <a:ext cx="3436920" cy="638280"/>
              </a:xfrm>
              <a:prstGeom prst="rect">
                <a:avLst/>
              </a:prstGeom>
              <a:noFill/>
              <a:ln w="360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marL="216000" indent="-216000">
                  <a:lnSpc>
                    <a:spcPct val="100000"/>
                  </a:lnSpc>
                  <a:buClr>
                    <a:srgbClr val="666666"/>
                  </a:buClr>
                  <a:buSzPct val="45000"/>
                  <a:buFont typeface="Wingdings" charset="2"/>
                  <a:buChar char=""/>
                </a:pPr>
                <a:r>
                  <a:rPr lang="pt-BR" sz="1200" b="0" u="none" strike="noStrike">
                    <a:solidFill>
                      <a:srgbClr val="666666"/>
                    </a:solidFill>
                    <a:effectLst/>
                    <a:uFillTx/>
                    <a:latin typeface="Segoe UI"/>
                  </a:rPr>
                  <a:t>delivery_attempts (Tentativas de entrega)</a:t>
                </a:r>
                <a:endParaRPr lang="pt-BR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16000" indent="-216000">
                  <a:lnSpc>
                    <a:spcPct val="100000"/>
                  </a:lnSpc>
                  <a:buClr>
                    <a:srgbClr val="666666"/>
                  </a:buClr>
                  <a:buSzPct val="45000"/>
                  <a:buFont typeface="Wingdings" charset="2"/>
                  <a:buChar char=""/>
                </a:pPr>
                <a:r>
                  <a:rPr lang="pt-BR" sz="1200" b="0" u="none" strike="noStrike">
                    <a:solidFill>
                      <a:srgbClr val="666666"/>
                    </a:solidFill>
                    <a:effectLst/>
                    <a:uFillTx/>
                    <a:latin typeface="Segoe UI"/>
                  </a:rPr>
                  <a:t>dias em trânsito vs. prazo</a:t>
                </a:r>
                <a:endParaRPr lang="pt-BR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lang="pt-BR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10" name=""/>
          <p:cNvGrpSpPr/>
          <p:nvPr/>
        </p:nvGrpSpPr>
        <p:grpSpPr>
          <a:xfrm>
            <a:off x="8290800" y="3195000"/>
            <a:ext cx="3502800" cy="3341880"/>
            <a:chOff x="8290800" y="3195000"/>
            <a:chExt cx="3502800" cy="3341880"/>
          </a:xfrm>
        </p:grpSpPr>
        <p:grpSp>
          <p:nvGrpSpPr>
            <p:cNvPr id="311" name=""/>
            <p:cNvGrpSpPr/>
            <p:nvPr/>
          </p:nvGrpSpPr>
          <p:grpSpPr>
            <a:xfrm>
              <a:off x="8290800" y="3195000"/>
              <a:ext cx="3502800" cy="3341880"/>
              <a:chOff x="8290800" y="3195000"/>
              <a:chExt cx="3502800" cy="3341880"/>
            </a:xfrm>
          </p:grpSpPr>
          <p:sp>
            <p:nvSpPr>
              <p:cNvPr id="312" name=""/>
              <p:cNvSpPr/>
              <p:nvPr/>
            </p:nvSpPr>
            <p:spPr>
              <a:xfrm>
                <a:off x="8290800" y="3195000"/>
                <a:ext cx="3499200" cy="3341880"/>
              </a:xfrm>
              <a:prstGeom prst="rect">
                <a:avLst/>
              </a:prstGeom>
              <a:solidFill>
                <a:srgbClr val="DC2626"/>
              </a:solidFill>
              <a:ln w="36000">
                <a:solidFill>
                  <a:srgbClr val="DC262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Shape 52"/>
              <p:cNvSpPr/>
              <p:nvPr/>
            </p:nvSpPr>
            <p:spPr>
              <a:xfrm>
                <a:off x="8290800" y="3295440"/>
                <a:ext cx="3502800" cy="32414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314" name=""/>
            <p:cNvSpPr/>
            <p:nvPr/>
          </p:nvSpPr>
          <p:spPr>
            <a:xfrm>
              <a:off x="8356680" y="3376800"/>
              <a:ext cx="3367440" cy="31824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sp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5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⚠️  Atraso Ativo</a:t>
              </a:r>
              <a:endParaRPr lang="pt-BR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8408520" y="3827160"/>
              <a:ext cx="3272400" cy="380160"/>
            </a:xfrm>
            <a:prstGeom prst="rect">
              <a:avLst/>
            </a:prstGeom>
            <a:solidFill>
              <a:srgbClr val="EEEEEE"/>
            </a:solidFill>
            <a:ln w="36000">
              <a:solidFill>
                <a:srgbClr val="EEEEE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4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Sinal forte</a:t>
              </a:r>
              <a:endPara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8330760" y="4364280"/>
              <a:ext cx="3436920" cy="136980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delivery_delay_days &gt;= 1 (dias de atraso na entrega)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customer_service_contacts (contatos do cliente com o atendimento)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200" b="0" u="none" strike="noStrike">
                  <a:solidFill>
                    <a:srgbClr val="666666"/>
                  </a:solidFill>
                  <a:effectLst/>
                  <a:uFillTx/>
                  <a:latin typeface="Segoe UI"/>
                </a:rPr>
                <a:t>complaints_count (quantidade de reclamações)</a:t>
              </a: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540360" y="360360"/>
            <a:ext cx="1134000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Calibri"/>
              </a:rPr>
              <a:t>Recomendações práticas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8" name=""/>
          <p:cNvGrpSpPr/>
          <p:nvPr/>
        </p:nvGrpSpPr>
        <p:grpSpPr>
          <a:xfrm>
            <a:off x="540000" y="1080000"/>
            <a:ext cx="5319360" cy="2519280"/>
            <a:chOff x="540000" y="1080000"/>
            <a:chExt cx="5319360" cy="2519280"/>
          </a:xfrm>
        </p:grpSpPr>
        <p:grpSp>
          <p:nvGrpSpPr>
            <p:cNvPr id="319" name=""/>
            <p:cNvGrpSpPr/>
            <p:nvPr/>
          </p:nvGrpSpPr>
          <p:grpSpPr>
            <a:xfrm>
              <a:off x="720000" y="1080000"/>
              <a:ext cx="5139360" cy="2519280"/>
              <a:chOff x="720000" y="1080000"/>
              <a:chExt cx="5139360" cy="2519280"/>
            </a:xfrm>
          </p:grpSpPr>
          <p:sp>
            <p:nvSpPr>
              <p:cNvPr id="320" name=""/>
              <p:cNvSpPr/>
              <p:nvPr/>
            </p:nvSpPr>
            <p:spPr>
              <a:xfrm>
                <a:off x="720000" y="1080000"/>
                <a:ext cx="5134320" cy="2519280"/>
              </a:xfrm>
              <a:prstGeom prst="rect">
                <a:avLst/>
              </a:prstGeom>
              <a:solidFill>
                <a:srgbClr val="DC2626"/>
              </a:solidFill>
              <a:ln w="36000">
                <a:solidFill>
                  <a:srgbClr val="DC262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Shape 52"/>
              <p:cNvSpPr/>
              <p:nvPr/>
            </p:nvSpPr>
            <p:spPr>
              <a:xfrm>
                <a:off x="720000" y="1155600"/>
                <a:ext cx="5139360" cy="2443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322" name=""/>
            <p:cNvSpPr/>
            <p:nvPr/>
          </p:nvSpPr>
          <p:spPr>
            <a:xfrm>
              <a:off x="816840" y="1216800"/>
              <a:ext cx="4940640" cy="3639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8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🚚 Logística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540000" y="2393640"/>
              <a:ext cx="5281200" cy="68472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3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rPr>
                <a:t>1 dia de atraso já converte a maioria dos clientes em detratores. Renegociar prazos com transportadoras e criar alertas preventivos de atraso.</a:t>
              </a:r>
              <a:endParaRPr lang="pt-BR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4" name=""/>
          <p:cNvSpPr/>
          <p:nvPr/>
        </p:nvSpPr>
        <p:spPr>
          <a:xfrm>
            <a:off x="720000" y="1764000"/>
            <a:ext cx="5101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Prioridade máxima: Zerar atrasos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5" name=""/>
          <p:cNvGrpSpPr/>
          <p:nvPr/>
        </p:nvGrpSpPr>
        <p:grpSpPr>
          <a:xfrm>
            <a:off x="6120360" y="1080000"/>
            <a:ext cx="5319360" cy="2519280"/>
            <a:chOff x="6120360" y="1080000"/>
            <a:chExt cx="5319360" cy="2519280"/>
          </a:xfrm>
        </p:grpSpPr>
        <p:grpSp>
          <p:nvGrpSpPr>
            <p:cNvPr id="326" name=""/>
            <p:cNvGrpSpPr/>
            <p:nvPr/>
          </p:nvGrpSpPr>
          <p:grpSpPr>
            <a:xfrm>
              <a:off x="6300360" y="1080000"/>
              <a:ext cx="5139360" cy="2519280"/>
              <a:chOff x="6300360" y="1080000"/>
              <a:chExt cx="5139360" cy="2519280"/>
            </a:xfrm>
          </p:grpSpPr>
          <p:sp>
            <p:nvSpPr>
              <p:cNvPr id="327" name=""/>
              <p:cNvSpPr/>
              <p:nvPr/>
            </p:nvSpPr>
            <p:spPr>
              <a:xfrm>
                <a:off x="6300360" y="1080000"/>
                <a:ext cx="5134320" cy="2519280"/>
              </a:xfrm>
              <a:prstGeom prst="rect">
                <a:avLst/>
              </a:prstGeom>
              <a:solidFill>
                <a:srgbClr val="E78A67"/>
              </a:solidFill>
              <a:ln w="36000">
                <a:solidFill>
                  <a:srgbClr val="E78A67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Shape 52"/>
              <p:cNvSpPr/>
              <p:nvPr/>
            </p:nvSpPr>
            <p:spPr>
              <a:xfrm>
                <a:off x="6300360" y="1155600"/>
                <a:ext cx="5139360" cy="2443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329" name=""/>
            <p:cNvSpPr/>
            <p:nvPr/>
          </p:nvSpPr>
          <p:spPr>
            <a:xfrm>
              <a:off x="6397200" y="1216800"/>
              <a:ext cx="4940640" cy="3639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8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🎧 </a:t>
              </a:r>
              <a:r>
                <a:rPr lang="pt-BR" sz="1800" b="1" u="none" strike="noStrike">
                  <a:solidFill>
                    <a:srgbClr val="E78A67"/>
                  </a:solidFill>
                  <a:effectLst/>
                  <a:uFillTx/>
                  <a:latin typeface="Segoe UI"/>
                  <a:ea typeface="Calibri"/>
                </a:rPr>
                <a:t>Atendimento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6120360" y="2393640"/>
              <a:ext cx="5281200" cy="4863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3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rPr>
                <a:t>Clientes que acionam o suporte múltiplas vezes têm NPS 117% pior.</a:t>
              </a:r>
              <a:endParaRPr lang="pt-BR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"/>
          <p:cNvSpPr/>
          <p:nvPr/>
        </p:nvSpPr>
        <p:spPr>
          <a:xfrm>
            <a:off x="6300360" y="1764000"/>
            <a:ext cx="5101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Resolver na primeira chamada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2" name=""/>
          <p:cNvGrpSpPr/>
          <p:nvPr/>
        </p:nvGrpSpPr>
        <p:grpSpPr>
          <a:xfrm>
            <a:off x="540000" y="3960000"/>
            <a:ext cx="5319360" cy="2519280"/>
            <a:chOff x="540000" y="3960000"/>
            <a:chExt cx="5319360" cy="2519280"/>
          </a:xfrm>
        </p:grpSpPr>
        <p:grpSp>
          <p:nvGrpSpPr>
            <p:cNvPr id="333" name=""/>
            <p:cNvGrpSpPr/>
            <p:nvPr/>
          </p:nvGrpSpPr>
          <p:grpSpPr>
            <a:xfrm>
              <a:off x="720000" y="3960000"/>
              <a:ext cx="5139360" cy="2519280"/>
              <a:chOff x="720000" y="3960000"/>
              <a:chExt cx="5139360" cy="2519280"/>
            </a:xfrm>
          </p:grpSpPr>
          <p:sp>
            <p:nvSpPr>
              <p:cNvPr id="334" name=""/>
              <p:cNvSpPr/>
              <p:nvPr/>
            </p:nvSpPr>
            <p:spPr>
              <a:xfrm>
                <a:off x="720000" y="3960000"/>
                <a:ext cx="5134320" cy="2519280"/>
              </a:xfrm>
              <a:prstGeom prst="rect">
                <a:avLst/>
              </a:prstGeom>
              <a:solidFill>
                <a:srgbClr val="813709"/>
              </a:solidFill>
              <a:ln w="36000">
                <a:solidFill>
                  <a:srgbClr val="81370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Shape 52"/>
              <p:cNvSpPr/>
              <p:nvPr/>
            </p:nvSpPr>
            <p:spPr>
              <a:xfrm>
                <a:off x="720000" y="4035600"/>
                <a:ext cx="5139360" cy="2443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336" name=""/>
            <p:cNvSpPr/>
            <p:nvPr/>
          </p:nvSpPr>
          <p:spPr>
            <a:xfrm>
              <a:off x="816840" y="4096800"/>
              <a:ext cx="4940640" cy="3639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8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📋 </a:t>
              </a:r>
              <a:r>
                <a:rPr lang="pt-BR" sz="1800" b="1" u="none" strike="noStrike">
                  <a:solidFill>
                    <a:srgbClr val="813709"/>
                  </a:solidFill>
                  <a:effectLst/>
                  <a:uFillTx/>
                  <a:latin typeface="Segoe UI"/>
                  <a:ea typeface="Calibri"/>
                </a:rPr>
                <a:t>Reclamações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540000" y="5273640"/>
              <a:ext cx="5281200" cy="4863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3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rPr>
                <a:t>Detratores têm 93% mais reclamações que promotores. Criar fila prioritária para reclamações com mais de 48h sem resolução.</a:t>
              </a:r>
              <a:endParaRPr lang="pt-BR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8" name=""/>
          <p:cNvSpPr/>
          <p:nvPr/>
        </p:nvSpPr>
        <p:spPr>
          <a:xfrm>
            <a:off x="720000" y="4644000"/>
            <a:ext cx="5101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Reduzir tempo de resolução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9" name=""/>
          <p:cNvGrpSpPr/>
          <p:nvPr/>
        </p:nvGrpSpPr>
        <p:grpSpPr>
          <a:xfrm>
            <a:off x="6120360" y="3960000"/>
            <a:ext cx="5319360" cy="2519280"/>
            <a:chOff x="6120360" y="3960000"/>
            <a:chExt cx="5319360" cy="2519280"/>
          </a:xfrm>
        </p:grpSpPr>
        <p:grpSp>
          <p:nvGrpSpPr>
            <p:cNvPr id="340" name=""/>
            <p:cNvGrpSpPr/>
            <p:nvPr/>
          </p:nvGrpSpPr>
          <p:grpSpPr>
            <a:xfrm>
              <a:off x="6300360" y="3960000"/>
              <a:ext cx="5139360" cy="2519280"/>
              <a:chOff x="6300360" y="3960000"/>
              <a:chExt cx="5139360" cy="2519280"/>
            </a:xfrm>
          </p:grpSpPr>
          <p:sp>
            <p:nvSpPr>
              <p:cNvPr id="341" name=""/>
              <p:cNvSpPr/>
              <p:nvPr/>
            </p:nvSpPr>
            <p:spPr>
              <a:xfrm>
                <a:off x="6300360" y="3960000"/>
                <a:ext cx="5134320" cy="2519280"/>
              </a:xfrm>
              <a:prstGeom prst="rect">
                <a:avLst/>
              </a:prstGeom>
              <a:solidFill>
                <a:srgbClr val="00A933"/>
              </a:solidFill>
              <a:ln w="36000">
                <a:solidFill>
                  <a:srgbClr val="00A933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Shape 52"/>
              <p:cNvSpPr/>
              <p:nvPr/>
            </p:nvSpPr>
            <p:spPr>
              <a:xfrm>
                <a:off x="6300360" y="4035600"/>
                <a:ext cx="5139360" cy="24436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  <a:effectLst>
                <a:outerShdw algn="bl" blurRad="101520" dir="8100000" dist="37674" kx="0" ky="0" rotWithShape="0" sx="100000" sy="100000">
                  <a:srgbClr val="000000">
                    <a:alpha val="10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b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endParaRPr>
              </a:p>
            </p:txBody>
          </p:sp>
        </p:grpSp>
        <p:sp>
          <p:nvSpPr>
            <p:cNvPr id="343" name=""/>
            <p:cNvSpPr/>
            <p:nvPr/>
          </p:nvSpPr>
          <p:spPr>
            <a:xfrm>
              <a:off x="6397200" y="4096800"/>
              <a:ext cx="4940640" cy="3639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pt-BR" sz="1800" b="1" u="none" strike="noStrike">
                  <a:solidFill>
                    <a:srgbClr val="DC2626"/>
                  </a:solidFill>
                  <a:effectLst/>
                  <a:uFillTx/>
                  <a:latin typeface="Segoe UI"/>
                  <a:ea typeface="Calibri"/>
                </a:rPr>
                <a:t>🔁 </a:t>
              </a:r>
              <a:r>
                <a:rPr lang="pt-BR" sz="1800" b="1" u="none" strike="noStrike">
                  <a:solidFill>
                    <a:srgbClr val="00A933"/>
                  </a:solidFill>
                  <a:effectLst/>
                  <a:uFillTx/>
                  <a:latin typeface="Segoe UI"/>
                  <a:ea typeface="Calibri"/>
                </a:rPr>
                <a:t>Retenção</a:t>
              </a: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"/>
            <p:cNvSpPr/>
            <p:nvPr/>
          </p:nvSpPr>
          <p:spPr>
            <a:xfrm>
              <a:off x="6120360" y="5273640"/>
              <a:ext cx="5281200" cy="486360"/>
            </a:xfrm>
            <a:prstGeom prst="rect">
              <a:avLst/>
            </a:prstGeom>
            <a:noFill/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marL="216000" indent="-216000">
                <a:lnSpc>
                  <a:spcPct val="100000"/>
                </a:lnSpc>
                <a:buClr>
                  <a:srgbClr val="666666"/>
                </a:buClr>
                <a:buSzPct val="45000"/>
                <a:buFont typeface="Wingdings" charset="2"/>
                <a:buChar char=""/>
              </a:pPr>
              <a:r>
                <a:rPr lang="pt-BR" sz="1300" b="0" u="none" strike="noStrike">
                  <a:solidFill>
                    <a:srgbClr val="000000"/>
                  </a:solidFill>
                  <a:effectLst/>
                  <a:uFillTx/>
                  <a:latin typeface="Segoe UI"/>
                </a:rPr>
                <a:t>Usar o modelo preditivo para acionar o time de CRM antes da pesquisa NPS ser enviada.</a:t>
              </a:r>
              <a:endParaRPr lang="pt-BR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5" name=""/>
          <p:cNvSpPr/>
          <p:nvPr/>
        </p:nvSpPr>
        <p:spPr>
          <a:xfrm>
            <a:off x="6300360" y="4644000"/>
            <a:ext cx="510120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400" b="1" u="none" strike="noStrike">
                <a:solidFill>
                  <a:srgbClr val="000000"/>
                </a:solidFill>
                <a:effectLst/>
                <a:uFillTx/>
                <a:latin typeface="Segoe UI"/>
              </a:rPr>
              <a:t>Identificar clientes em risco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5"/>
          <p:cNvPicPr/>
          <p:nvPr/>
        </p:nvPicPr>
        <p:blipFill>
          <a:blip r:embed="rId1"/>
          <a:srcRect l="14679" t="0" r="6" b="5"/>
          <a:stretch/>
        </p:blipFill>
        <p:spPr>
          <a:xfrm>
            <a:off x="-540000" y="-1647720"/>
            <a:ext cx="12731760" cy="119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PlaceHolder 1"/>
          <p:cNvSpPr>
            <a:spLocks noGrp="1"/>
          </p:cNvSpPr>
          <p:nvPr>
            <p:ph type="subTitle"/>
          </p:nvPr>
        </p:nvSpPr>
        <p:spPr>
          <a:xfrm>
            <a:off x="612720" y="808560"/>
            <a:ext cx="10653120" cy="513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111111"/>
                </a:solidFill>
                <a:effectLst/>
                <a:highlight>
                  <a:srgbClr val="EEEEEE"/>
                </a:highlight>
                <a:uFillTx/>
                <a:latin typeface="Segoe UI"/>
              </a:rPr>
              <a:t>Limitações e riscos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539280" y="261720"/>
            <a:ext cx="11340000" cy="638280"/>
          </a:xfrm>
          <a:prstGeom prst="rect">
            <a:avLst/>
          </a:prstGeom>
          <a:noFill/>
          <a:ln w="36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⚠️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554760" y="1080000"/>
            <a:ext cx="5559120" cy="5399280"/>
          </a:xfrm>
          <a:prstGeom prst="rect">
            <a:avLst/>
          </a:prstGeom>
          <a:solidFill>
            <a:srgbClr val="FFFFFF"/>
          </a:solidFill>
          <a:ln w="36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2"/>
          <p:cNvSpPr/>
          <p:nvPr/>
        </p:nvSpPr>
        <p:spPr>
          <a:xfrm>
            <a:off x="554760" y="1242000"/>
            <a:ext cx="5564520" cy="5237280"/>
          </a:xfrm>
          <a:prstGeom prst="rect">
            <a:avLst/>
          </a:prstGeom>
          <a:solidFill>
            <a:srgbClr val="00000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Segoe UI"/>
            </a:endParaRPr>
          </a:p>
        </p:txBody>
      </p:sp>
      <p:sp>
        <p:nvSpPr>
          <p:cNvPr id="351" name=""/>
          <p:cNvSpPr/>
          <p:nvPr/>
        </p:nvSpPr>
        <p:spPr>
          <a:xfrm>
            <a:off x="720000" y="1224000"/>
            <a:ext cx="521928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Base pequena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720000" y="1584000"/>
            <a:ext cx="503928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2.500 registros. Grupos com 6+ dias de atraso têm apenas 3 - 34 amostras.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720000" y="2304000"/>
            <a:ext cx="5219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Data leakage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720000" y="2736000"/>
            <a:ext cx="521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csat_internal_score não pode ser usada como variável preditora se derivar do próprio NPS.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720000" y="4805280"/>
            <a:ext cx="53992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Viés temporal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720000" y="5292000"/>
            <a:ext cx="54046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 modelo precisa ser retreinado periodicamente. Comportamento de clientes muda com sazonalidade e operações.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720000" y="3604320"/>
            <a:ext cx="53938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2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Causalidade vs. correlação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714600" y="3960000"/>
            <a:ext cx="539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1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 análise mostra associações. Reclamações altas podem ser consequência, não causa, do problema original.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7020000" y="900000"/>
            <a:ext cx="4139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2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Conclusão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7480080" y="1482480"/>
            <a:ext cx="3219120" cy="41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20" rIns="90000" bIns="-25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7020000" y="1694520"/>
            <a:ext cx="4139280" cy="8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A satisfação do cliente não depende de quem ele é, depende do que ele viveu.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7020000" y="2753280"/>
            <a:ext cx="4139280" cy="8517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7020000" y="2753280"/>
            <a:ext cx="17240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1 dia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6"/>
          <p:cNvSpPr/>
          <p:nvPr/>
        </p:nvSpPr>
        <p:spPr>
          <a:xfrm>
            <a:off x="8745120" y="2753280"/>
            <a:ext cx="241416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de atraso já gera maioria de detratores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7020000" y="3740400"/>
            <a:ext cx="4139280" cy="8521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7020000" y="3740400"/>
            <a:ext cx="172404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−0.60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0"/>
          <p:cNvSpPr/>
          <p:nvPr/>
        </p:nvSpPr>
        <p:spPr>
          <a:xfrm>
            <a:off x="8745120" y="3740400"/>
            <a:ext cx="24141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Maior correlação: Dias de atraso na entrega vs NPS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7020000" y="4727880"/>
            <a:ext cx="4139280" cy="8517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2"/>
          <p:cNvSpPr/>
          <p:nvPr/>
        </p:nvSpPr>
        <p:spPr>
          <a:xfrm>
            <a:off x="7020000" y="4727880"/>
            <a:ext cx="17240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74%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8"/>
          <p:cNvSpPr/>
          <p:nvPr/>
        </p:nvSpPr>
        <p:spPr>
          <a:xfrm>
            <a:off x="8745120" y="4727880"/>
            <a:ext cx="241416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da base são detratores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4"/>
          <p:cNvSpPr/>
          <p:nvPr/>
        </p:nvSpPr>
        <p:spPr>
          <a:xfrm>
            <a:off x="6987960" y="5883480"/>
            <a:ext cx="4139280" cy="4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Calibri"/>
              </a:rPr>
              <a:t>Com um modelo preditivo, podemos agir antes, não depois.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Crédito assets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12720" y="1715400"/>
            <a:ext cx="10653120" cy="45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href="https://www.flaticon.com/br/icones-gratis/objetivo" title="objetivo ícones"&gt;Objetivo ícones criados por Freepik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href="https://www.flaticon.com/br/icones-gratis/produtos" title="produtos ícones"&gt;Produtos ícones criados por Freepik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href="https://www.flaticon.com/br/icones-gratis/problema" title="problema ícones"&gt;Problema ícones criados por Freepik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href="https://www.flaticon.com/br/icones-gratis/logistica" title="logística ícones"&gt;Logística ícones criados por Eucalyp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href="https://www.flaticon.com/br/icones-gratis/atendimento-ao-cliente" title="atendimento ao cliente ícones"&gt;Atendimento ao cliente ícones criados por Freepik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href="https://www.flaticon.com/br/icones-gratis/produtos" title="produtos ícones"&gt;Produtos ícones criados por Iconjam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href="https://www.flaticon.com/br/icones-gratis/dinheiro" title="dinheiro ícones"&gt;Dinheiro ícones criados por Gregor Cresnar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href="https://www.flaticon.com/br/icones-gratis/recompra" title="recompra ícones"&gt;Recompra ícones criados por bearicons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href="https://www.flaticon.com/br/icones-gratis/falando" title="falando ícones"&gt;Falando ícones criados por yut1655 –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&lt;a href="https://www.flaticon.com/br/icones-gratis/quota-de-mercado" title="quota de mercado ícones"&gt;Quota de mercado ícones criados por small.smiles - Flaticon&lt;/a&gt;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3600" b="1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Links de referencia</a:t>
            </a:r>
            <a:endParaRPr lang="en-US" sz="3600" b="1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612720" y="1715400"/>
            <a:ext cx="10653120" cy="45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Benchmark NPS: 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  <a:hlinkClick r:id="rId1"/>
              </a:rPr>
              <a:t>https://www.opinionbox.com/nps/segmentos-avaliados/e-commerce-e-marketplaces/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Benchmark Recompra: 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  <a:hlinkClick r:id="rId2"/>
              </a:rPr>
              <a:t>https://www.prax.ai/blog/benchmarks-ecommerce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Prazo de entrega (Não encontrei fontes relevantes): Estudo feito por conta própria, considerando 1 capital, 1 cidade e 1 interior para cada região usando 1 produto como exemplo em 3 grandes e-commerces diferentes, dados disponíveis em: https://github.com/p-teco/tech_challenge_fase1/data/bench_prazo_entrega.ods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CSAT : 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  <a:hlinkClick r:id="rId3"/>
              </a:rPr>
              <a:t>https://useconverge.app/benchmarks/csat-score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Segoe UI"/>
                <a:ea typeface="Neue Haas Grotesk Text Pro"/>
              </a:rPr>
              <a:t>Repositorio GitHub: https://github.com/p-teco/tech_challenge_fase1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Dieizon A. Ferreira ​  RM: 371888​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>
            <a:off x="1080000" y="1620000"/>
            <a:ext cx="10259280" cy="43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pt-BR" sz="66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Obrigado!</a:t>
            </a:r>
            <a:endParaRPr lang="pt-BR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Dieizon A. Ferreira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RM: 371888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VTI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 pitchFamily="0" charset="1"/>
        <a:ea typeface=""/>
        <a:cs typeface=""/>
      </a:majorFont>
      <a:minorFont>
        <a:latin typeface="Neue Haas Grotesk Tex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2026-04-29T23:28:22Z</dcterms:created>
  <dc:creator/>
  <dc:description/>
  <dc:language>pt-BR</dc:language>
  <cp:lastModifiedBy/>
  <cp:lastPrinted>2026-05-03T15:05:34Z</cp:lastPrinted>
  <dcterms:modified xsi:type="dcterms:W3CDTF">2026-05-03T20:35:55Z</dcterms:modified>
  <cp:revision>633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