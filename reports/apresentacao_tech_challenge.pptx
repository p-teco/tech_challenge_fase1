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style2.xml" ContentType="application/vnd.ms-office.chartstyl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olors2.xml" ContentType="application/vnd.ms-office.chartcolorstyl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entation.xml" ContentType="application/vnd.openxmlformats-officedocument.presentationml.presentation.main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presProps.xml" ContentType="application/vnd.openxmlformats-officedocument.presentationml.presProps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65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</p:sldIdLst>
  <p:sldSz cx="12193588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16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Correlacoes</c:v>
                </c:pt>
              </c:strCache>
            </c:strRef>
          </c:tx>
          <c:spPr>
            <a:solidFill>
              <a:srgbClr val="B2B2B2"/>
            </a:solidFill>
            <a:ln w="0">
              <a:noFill/>
            </a:ln>
          </c:spPr>
          <c:invertIfNegative val="0"/>
          <c:dPt>
            <c:idx val="4"/>
            <c:invertIfNegative val="0"/>
            <c:spPr>
              <a:solidFill>
                <a:srgbClr val="B2B2B2"/>
              </a:solidFill>
              <a:ln w="0">
                <a:noFill/>
              </a:ln>
            </c:spPr>
          </c:dPt>
          <c:dPt>
            <c:idx val="5"/>
            <c:invertIfNegative val="0"/>
            <c:spPr>
              <a:solidFill>
                <a:srgbClr val="B2B2B2"/>
              </a:solidFill>
              <a:ln w="0">
                <a:noFill/>
              </a:ln>
            </c:spPr>
          </c:dPt>
          <c:dLbls>
            <c:dLbl>
              <c:idx val="4"/>
              <c:txPr>
                <a:bodyPr wrap="none"/>
                <a:lstStyle/>
                <a:p>
                  <a:pPr>
                    <a:defRPr sz="10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5"/>
              <c:txPr>
                <a:bodyPr wrap="none"/>
                <a:lstStyle/>
                <a:p>
                  <a:pPr>
                    <a:defRPr sz="10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 </c:separator>
            </c:dLbl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6"/>
                <c:pt idx="0">
                  <c:v>Tempo para resolução de problemas</c:v>
                </c:pt>
                <c:pt idx="1">
                  <c:v>Contatos do cliente com o atendimento</c:v>
                </c:pt>
                <c:pt idx="2">
                  <c:v>Número de reclamações registradas</c:v>
                </c:pt>
                <c:pt idx="3">
                  <c:v>Dias de atraso na entrega</c:v>
                </c:pt>
                <c:pt idx="4">
                  <c:v>Score interno de satisfação do cliente</c:v>
                </c:pt>
                <c:pt idx="5">
                  <c:v>Recompra em até 30 dias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-0.191392</c:v>
                </c:pt>
                <c:pt idx="1">
                  <c:v>-0.350845</c:v>
                </c:pt>
                <c:pt idx="2">
                  <c:v>-0.4968</c:v>
                </c:pt>
                <c:pt idx="3">
                  <c:v>-0.59726</c:v>
                </c:pt>
                <c:pt idx="4">
                  <c:v>0.563952</c:v>
                </c:pt>
                <c:pt idx="5">
                  <c:v>0.570324</c:v>
                </c:pt>
              </c:numCache>
            </c:numRef>
          </c:val>
        </c:ser>
        <c:gapWidth val="100"/>
        <c:overlap val="0"/>
        <c:axId val="94150691"/>
        <c:axId val="50620993"/>
      </c:barChart>
      <c:catAx>
        <c:axId val="94150691"/>
        <c:scaling>
          <c:orientation val="maxMin"/>
        </c:scaling>
        <c:delete val="0"/>
        <c:axPos val="b"/>
        <c:numFmt formatCode="[$-416]dd/mm/yyyy" sourceLinked="0"/>
        <c:majorTickMark val="in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sz="1200" b="1" u="none" strike="noStrike">
                <a:solidFill>
                  <a:srgbClr val="000000"/>
                </a:solidFill>
                <a:uFillTx/>
                <a:latin typeface="Segoe UI"/>
              </a:defRPr>
            </a:pPr>
          </a:p>
        </c:txPr>
        <c:crossAx val="50620993"/>
        <c:crosses val="autoZero"/>
        <c:auto val="1"/>
        <c:lblAlgn val="ctr"/>
        <c:lblOffset val="100"/>
        <c:noMultiLvlLbl val="0"/>
      </c:catAx>
      <c:valAx>
        <c:axId val="50620993"/>
        <c:scaling>
          <c:orientation val="minMax"/>
        </c:scaling>
        <c:delete val="1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Segoe UI"/>
              </a:defRPr>
            </a:pPr>
          </a:p>
        </c:txPr>
        <c:crossAx val="94150691"/>
        <c:crossBetween val="between"/>
      </c:valAx>
      <c:spPr>
        <a:noFill/>
        <a:ln w="0">
          <a:solidFill>
            <a:srgbClr val="B3B3B3"/>
          </a:solidFill>
        </a:ln>
      </c:spPr>
    </c:plotArea>
    <c:plotVisOnly val="1"/>
    <c:dispBlanksAs val="gap"/>
  </c:chart>
  <c:spPr>
    <a:noFill/>
    <a:ln w="3600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1600" b="0" u="none" strike="noStrike">
                <a:solidFill>
                  <a:srgbClr val="000000"/>
                </a:solidFill>
                <a:uFillTx/>
                <a:latin typeface="Segoe UI"/>
              </a:rPr>
              <a:t>% De detratores por dias de atraso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Coluna 1</c:v>
                </c:pt>
              </c:strCache>
            </c:strRef>
          </c:tx>
          <c:spPr>
            <a:solidFill>
              <a:srgbClr val="C9211E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107371"/>
              </a:solidFill>
              <a:ln w="0">
                <a:noFill/>
              </a:ln>
            </c:spPr>
          </c:dPt>
          <c:dLbls>
            <c:dLbl>
              <c:idx val="0"/>
              <c:numFmt formatCode="#" sourceLinked="0"/>
              <c:txPr>
                <a:bodyPr wrap="none"/>
                <a:lstStyle/>
                <a:p>
                  <a:pPr>
                    <a:defRPr sz="1200" b="0" u="none" strike="noStrike">
                      <a:solidFill>
                        <a:srgbClr val="000000"/>
                      </a:solidFill>
                      <a:uFillTx/>
                      <a:latin typeface="Segoe U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 </c:separator>
            </c:dLbl>
            <c:numFmt formatCode="#" sourceLinked="0"/>
            <c:txPr>
              <a:bodyPr wrap="non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Segoe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7"/>
                <c:pt idx="0">
                  <c:v>Nenhum dia</c:v>
                </c:pt>
                <c:pt idx="1">
                  <c:v>1 Dia</c:v>
                </c:pt>
                <c:pt idx="2">
                  <c:v>2 Dias</c:v>
                </c:pt>
                <c:pt idx="3">
                  <c:v>3 Dias</c:v>
                </c:pt>
                <c:pt idx="4">
                  <c:v>4 Dias</c:v>
                </c:pt>
                <c:pt idx="5">
                  <c:v>5 Dias</c:v>
                </c:pt>
                <c:pt idx="6">
                  <c:v>6+ Dias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7"/>
                <c:pt idx="0">
                  <c:v>36.5</c:v>
                </c:pt>
                <c:pt idx="1">
                  <c:v>59.7</c:v>
                </c:pt>
                <c:pt idx="2">
                  <c:v>75.4</c:v>
                </c:pt>
                <c:pt idx="3">
                  <c:v>89.7</c:v>
                </c:pt>
                <c:pt idx="4">
                  <c:v>95.9</c:v>
                </c:pt>
                <c:pt idx="5">
                  <c:v>99.1</c:v>
                </c:pt>
                <c:pt idx="6">
                  <c:v>100</c:v>
                </c:pt>
              </c:numCache>
            </c:numRef>
          </c:val>
        </c:ser>
        <c:gapWidth val="100"/>
        <c:overlap val="0"/>
        <c:axId val="26539695"/>
        <c:axId val="68774707"/>
      </c:barChart>
      <c:catAx>
        <c:axId val="26539695"/>
        <c:scaling>
          <c:orientation val="minMax"/>
        </c:scaling>
        <c:delete val="0"/>
        <c:axPos val="b"/>
        <c:numFmt formatCode="[$-416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Segoe UI"/>
              </a:defRPr>
            </a:pPr>
          </a:p>
        </c:txPr>
        <c:crossAx val="68774707"/>
        <c:crossesAt val="0"/>
        <c:auto val="1"/>
        <c:lblAlgn val="ctr"/>
        <c:lblOffset val="100"/>
        <c:noMultiLvlLbl val="0"/>
      </c:catAx>
      <c:valAx>
        <c:axId val="68774707"/>
        <c:scaling>
          <c:orientation val="minMax"/>
          <c:max val="100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Segoe UI"/>
              </a:defRPr>
            </a:pPr>
          </a:p>
        </c:txPr>
        <c:crossAx val="26539695"/>
        <c:crossesAt val="1"/>
        <c:crossBetween val="between"/>
      </c:valAx>
      <c:spPr>
        <a:noFill/>
        <a:ln w="0">
          <a:solidFill>
            <a:srgbClr val="B3B3B3"/>
          </a:solidFill>
        </a:ln>
      </c:spPr>
    </c:plotArea>
    <c:plotVisOnly val="1"/>
    <c:dispBlanksAs val="gap"/>
  </c:chart>
  <c:spPr>
    <a:noFill/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adr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12720" y="548640"/>
            <a:ext cx="10653480" cy="113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</a:t>
            </a: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edit Master </a:t>
            </a: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title style</a:t>
            </a:r>
            <a:endParaRPr lang="en-US" sz="36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12720" y="1715400"/>
            <a:ext cx="10653480" cy="459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4572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6858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9144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11430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8877240" y="6453000"/>
            <a:ext cx="2804760" cy="36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rgbClr val="000000"/>
                </a:solidFill>
                <a:effectLst/>
                <a:uFillTx/>
                <a:latin typeface="Segoe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&lt;rodapé&gt;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11633040" y="6453000"/>
            <a:ext cx="4280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A55EEFD-B5F2-4E30-9710-E350CF795563}" type="slidenum">
              <a:rPr lang="en-US" sz="9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3360" y="553680"/>
            <a:ext cx="8272800" cy="4007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5400" b="1" u="none" strike="noStrike" cap="all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5400" b="1" u="none" strike="noStrike" cap="all">
                <a:solidFill>
                  <a:schemeClr val="dk1"/>
                </a:solidFill>
                <a:effectLst/>
                <a:uFillTx/>
                <a:latin typeface="Neue Haas Grotesk Text Pro"/>
              </a:rPr>
              <a:t>Cli</a:t>
            </a:r>
            <a:r>
              <a:rPr lang="en-US" sz="5400" b="1" u="none" strike="noStrike" cap="all">
                <a:solidFill>
                  <a:schemeClr val="dk1"/>
                </a:solidFill>
                <a:effectLst/>
                <a:uFillTx/>
                <a:latin typeface="Neue Haas Grotesk Text Pro"/>
              </a:rPr>
              <a:t>ck </a:t>
            </a:r>
            <a:r>
              <a:rPr lang="en-US" sz="5400" b="1" u="none" strike="noStrike" cap="all">
                <a:solidFill>
                  <a:schemeClr val="dk1"/>
                </a:solidFill>
                <a:effectLst/>
                <a:uFillTx/>
                <a:latin typeface="Neue Haas Grotesk Text Pro"/>
              </a:rPr>
              <a:t>to </a:t>
            </a:r>
            <a:r>
              <a:rPr lang="en-US" sz="5400" b="1" u="none" strike="noStrike" cap="all">
                <a:solidFill>
                  <a:schemeClr val="dk1"/>
                </a:solidFill>
                <a:effectLst/>
                <a:uFillTx/>
                <a:latin typeface="Neue Haas Grotesk Text Pro"/>
              </a:rPr>
              <a:t>edi</a:t>
            </a:r>
            <a:r>
              <a:rPr lang="en-US" sz="5400" b="1" u="none" strike="noStrike" cap="all">
                <a:solidFill>
                  <a:schemeClr val="dk1"/>
                </a:solidFill>
                <a:effectLst/>
                <a:uFillTx/>
                <a:latin typeface="Neue Haas Grotesk Text Pro"/>
              </a:rPr>
              <a:t>t </a:t>
            </a:r>
            <a:r>
              <a:rPr lang="en-US" sz="5400" b="1" u="none" strike="noStrike" cap="all">
                <a:solidFill>
                  <a:schemeClr val="dk1"/>
                </a:solidFill>
                <a:effectLst/>
                <a:uFillTx/>
                <a:latin typeface="Neue Haas Grotesk Text Pro"/>
              </a:rPr>
              <a:t>Ma</a:t>
            </a:r>
            <a:r>
              <a:rPr lang="en-US" sz="5400" b="1" u="none" strike="noStrike" cap="all">
                <a:solidFill>
                  <a:schemeClr val="dk1"/>
                </a:solidFill>
                <a:effectLst/>
                <a:uFillTx/>
                <a:latin typeface="Neue Haas Grotesk Text Pro"/>
              </a:rPr>
              <a:t>ste</a:t>
            </a:r>
            <a:r>
              <a:rPr lang="en-US" sz="5400" b="1" u="none" strike="noStrike" cap="all">
                <a:solidFill>
                  <a:schemeClr val="dk1"/>
                </a:solidFill>
                <a:effectLst/>
                <a:uFillTx/>
                <a:latin typeface="Neue Haas Grotesk Text Pro"/>
              </a:rPr>
              <a:t>r </a:t>
            </a:r>
            <a:r>
              <a:rPr lang="en-US" sz="5400" b="1" u="none" strike="noStrike" cap="all">
                <a:solidFill>
                  <a:schemeClr val="dk1"/>
                </a:solidFill>
                <a:effectLst/>
                <a:uFillTx/>
                <a:latin typeface="Neue Haas Grotesk Text Pro"/>
              </a:rPr>
              <a:t>tit</a:t>
            </a:r>
            <a:r>
              <a:rPr lang="en-US" sz="5400" b="1" u="none" strike="noStrike" cap="all">
                <a:solidFill>
                  <a:schemeClr val="dk1"/>
                </a:solidFill>
                <a:effectLst/>
                <a:uFillTx/>
                <a:latin typeface="Neue Haas Grotesk Text Pro"/>
              </a:rPr>
              <a:t>le </a:t>
            </a:r>
            <a:r>
              <a:rPr lang="en-US" sz="5400" b="1" u="none" strike="noStrike" cap="all">
                <a:solidFill>
                  <a:schemeClr val="dk1"/>
                </a:solidFill>
                <a:effectLst/>
                <a:uFillTx/>
                <a:latin typeface="Neue Haas Grotesk Text Pro"/>
              </a:rPr>
              <a:t>sty</a:t>
            </a:r>
            <a:r>
              <a:rPr lang="en-US" sz="5400" b="1" u="none" strike="noStrike" cap="all">
                <a:solidFill>
                  <a:schemeClr val="dk1"/>
                </a:solidFill>
                <a:effectLst/>
                <a:uFillTx/>
                <a:latin typeface="Neue Haas Grotesk Text Pro"/>
              </a:rPr>
              <a:t>le</a:t>
            </a:r>
            <a:endParaRPr lang="en-US" sz="5400" b="1" u="none" strike="noStrike" cap="all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3360" y="4589640"/>
            <a:ext cx="8272800" cy="1383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3"/>
          </p:nvPr>
        </p:nvSpPr>
        <p:spPr>
          <a:xfrm>
            <a:off x="137160" y="6453000"/>
            <a:ext cx="34934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&lt;data/hora&gt;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4"/>
          </p:nvPr>
        </p:nvSpPr>
        <p:spPr>
          <a:xfrm>
            <a:off x="8877240" y="6453000"/>
            <a:ext cx="28047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&lt;rodapé&gt;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5"/>
          </p:nvPr>
        </p:nvSpPr>
        <p:spPr>
          <a:xfrm>
            <a:off x="11633040" y="6453000"/>
            <a:ext cx="4280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B21028A-D9FB-4FBB-BC4B-6C3BB5B5A7BA}" type="slidenum"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12720" y="548640"/>
            <a:ext cx="10741320" cy="113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</a:t>
            </a: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to edit </a:t>
            </a: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Maste</a:t>
            </a: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r title </a:t>
            </a: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style</a:t>
            </a:r>
            <a:endParaRPr lang="en-US" sz="36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12720" y="1825560"/>
            <a:ext cx="518076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4572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6858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9144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11430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172560" y="1825560"/>
            <a:ext cx="518076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4572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6858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9144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11430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6"/>
          </p:nvPr>
        </p:nvSpPr>
        <p:spPr>
          <a:xfrm>
            <a:off x="137160" y="6453000"/>
            <a:ext cx="34934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&lt;data/hora&gt;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7"/>
          </p:nvPr>
        </p:nvSpPr>
        <p:spPr>
          <a:xfrm>
            <a:off x="8877240" y="6453000"/>
            <a:ext cx="28047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&lt;rodapé&gt;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8"/>
          </p:nvPr>
        </p:nvSpPr>
        <p:spPr>
          <a:xfrm>
            <a:off x="11633040" y="6453000"/>
            <a:ext cx="4280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A45FAA8-F29C-40E5-978F-05C88D3B8E12}" type="slidenum"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547560"/>
            <a:ext cx="1074564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</a:t>
            </a: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edit </a:t>
            </a: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Master </a:t>
            </a: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title </a:t>
            </a: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style</a:t>
            </a:r>
            <a:endParaRPr lang="en-US" sz="36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85880"/>
            <a:ext cx="5157000" cy="55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000" b="1" u="none" strike="noStrike" cap="all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1" u="none" strike="noStrike" cap="all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609480" y="2386800"/>
            <a:ext cx="5157000" cy="3764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4572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6858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9144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11430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6172560" y="1685880"/>
            <a:ext cx="5182560" cy="55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000" b="1" u="none" strike="noStrike" cap="all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1" u="none" strike="noStrike" cap="all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6172560" y="2386800"/>
            <a:ext cx="5182560" cy="3764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4572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6858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9144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11430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dt" idx="9"/>
          </p:nvPr>
        </p:nvSpPr>
        <p:spPr>
          <a:xfrm>
            <a:off x="137160" y="6453000"/>
            <a:ext cx="34934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&lt;data/hora&gt;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7"/>
          <p:cNvSpPr>
            <a:spLocks noGrp="1"/>
          </p:cNvSpPr>
          <p:nvPr>
            <p:ph type="ftr" idx="10"/>
          </p:nvPr>
        </p:nvSpPr>
        <p:spPr>
          <a:xfrm>
            <a:off x="8877240" y="6453000"/>
            <a:ext cx="28047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&lt;rodapé&gt;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8"/>
          <p:cNvSpPr>
            <a:spLocks noGrp="1"/>
          </p:cNvSpPr>
          <p:nvPr>
            <p:ph type="sldNum" idx="11"/>
          </p:nvPr>
        </p:nvSpPr>
        <p:spPr>
          <a:xfrm>
            <a:off x="11633040" y="6453000"/>
            <a:ext cx="4280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AC0191-7895-4308-A81B-4FA1BC3D6BA0}" type="slidenum"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612720" y="548640"/>
            <a:ext cx="10653480" cy="113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</a:t>
            </a: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edit Master </a:t>
            </a: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title style</a:t>
            </a:r>
            <a:endParaRPr lang="en-US" sz="36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dt" idx="12"/>
          </p:nvPr>
        </p:nvSpPr>
        <p:spPr>
          <a:xfrm>
            <a:off x="137160" y="6453000"/>
            <a:ext cx="34934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&lt;data/hora&gt;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ftr" idx="13"/>
          </p:nvPr>
        </p:nvSpPr>
        <p:spPr>
          <a:xfrm>
            <a:off x="8877240" y="6453000"/>
            <a:ext cx="28047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&lt;rodapé&gt;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sldNum" idx="14"/>
          </p:nvPr>
        </p:nvSpPr>
        <p:spPr>
          <a:xfrm>
            <a:off x="11633040" y="6453000"/>
            <a:ext cx="4280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20E185-A56E-449B-8A25-23A6FAC50879}" type="slidenum"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316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5"/>
          </p:nvPr>
        </p:nvSpPr>
        <p:spPr>
          <a:xfrm>
            <a:off x="137160" y="6453000"/>
            <a:ext cx="34934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&lt;data/hora&gt;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6"/>
          </p:nvPr>
        </p:nvSpPr>
        <p:spPr>
          <a:xfrm>
            <a:off x="8877240" y="6453000"/>
            <a:ext cx="28047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&lt;rodapé&gt;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7"/>
          </p:nvPr>
        </p:nvSpPr>
        <p:spPr>
          <a:xfrm>
            <a:off x="11633040" y="6453000"/>
            <a:ext cx="4280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6D927D8-7C7B-4100-A8BD-5C690CCD7F24}" type="slidenum"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16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316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597240" y="553680"/>
            <a:ext cx="3594960" cy="175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28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edit Master title style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5135040" y="553680"/>
            <a:ext cx="6279480" cy="548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4572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6858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9144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11430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597240" y="2311200"/>
            <a:ext cx="3594960" cy="3727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18"/>
          </p:nvPr>
        </p:nvSpPr>
        <p:spPr>
          <a:xfrm>
            <a:off x="137160" y="6453000"/>
            <a:ext cx="34934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&lt;data/hora&gt;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19"/>
          </p:nvPr>
        </p:nvSpPr>
        <p:spPr>
          <a:xfrm>
            <a:off x="8877240" y="6453000"/>
            <a:ext cx="28047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&lt;rodapé&gt;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20"/>
          </p:nvPr>
        </p:nvSpPr>
        <p:spPr>
          <a:xfrm>
            <a:off x="11633040" y="6453000"/>
            <a:ext cx="4280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06956B-B772-4479-AE69-6463BAFEB317}" type="slidenum"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94360" y="557640"/>
            <a:ext cx="3594960" cy="221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28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</a:t>
            </a: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edit </a:t>
            </a: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Master </a:t>
            </a: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title </a:t>
            </a: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style</a:t>
            </a:r>
            <a:endParaRPr lang="en-US" sz="28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5063760" y="657000"/>
            <a:ext cx="6483240" cy="5554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  <a:lvl2pPr lvl="1" algn="l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2pPr>
            <a:lvl3pPr lvl="2" algn="l" defTabSz="914400">
              <a:lnSpc>
                <a:spcPct val="12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3pPr>
            <a:lvl4pPr lvl="3" algn="l" defTabSz="9144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4pPr>
            <a:lvl5pPr lvl="4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5pPr>
            <a:lvl6pPr lvl="5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6pPr>
            <a:lvl7pPr lvl="6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7pPr>
          </a:lstStyle>
          <a:p>
            <a:pPr marL="432000" indent="-3240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Clique para editar o formato de texto dos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457200" lvl="1" indent="-324000" algn="l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2.º nível de tópicos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914400" lvl="2" indent="-288000" algn="l" defTabSz="914400">
              <a:lnSpc>
                <a:spcPct val="12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3.º nível de tópicos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1371600" lvl="3" indent="-216000" algn="l" defTabSz="9144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4.º nível de tópicos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1828800" lvl="4" indent="-2160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5.º nível de tópicos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0" lvl="5" indent="-2160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6.º nível de tópicos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743200" lvl="6" indent="-2160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7.º nível de tópicos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609480" y="2826000"/>
            <a:ext cx="3584880" cy="343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1"/>
          </p:nvPr>
        </p:nvSpPr>
        <p:spPr>
          <a:xfrm>
            <a:off x="137160" y="6453000"/>
            <a:ext cx="34934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&lt;data/hora&gt;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2"/>
          </p:nvPr>
        </p:nvSpPr>
        <p:spPr>
          <a:xfrm>
            <a:off x="8877240" y="6453000"/>
            <a:ext cx="28047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&lt;rodapé&gt;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3"/>
          </p:nvPr>
        </p:nvSpPr>
        <p:spPr>
          <a:xfrm>
            <a:off x="11633040" y="6453000"/>
            <a:ext cx="4280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202D52F-E93A-46F9-8B68-C0AE31112A6A}" type="slidenum"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2301840" y="1122480"/>
            <a:ext cx="7587720" cy="262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</a:t>
            </a:r>
            <a:r>
              <a:rPr lang="en-U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edit Master </a:t>
            </a:r>
            <a:r>
              <a:rPr lang="en-U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title style</a:t>
            </a:r>
            <a:endParaRPr lang="en-US" sz="40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ftr" idx="24"/>
          </p:nvPr>
        </p:nvSpPr>
        <p:spPr>
          <a:xfrm>
            <a:off x="8877240" y="6453000"/>
            <a:ext cx="28047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&lt;rodapé&gt;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sldNum" idx="25"/>
          </p:nvPr>
        </p:nvSpPr>
        <p:spPr>
          <a:xfrm>
            <a:off x="11633040" y="6453000"/>
            <a:ext cx="4280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A97540-54A4-4872-BE4A-0E9B51AE1ACD}" type="slidenum"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80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2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  <a:lvl2pPr lvl="1" algn="l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2pPr>
            <a:lvl3pPr lvl="2" algn="l">
              <a:lnSpc>
                <a:spcPct val="12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3pPr>
            <a:lvl4pPr lvl="3" algn="l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4pPr>
            <a:lvl5pPr lvl="4" algn="l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5pPr>
            <a:lvl6pPr lvl="5" algn="l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6pPr>
            <a:lvl7pPr lvl="6" algn="l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7pPr>
          </a:lstStyle>
          <a:p>
            <a:pPr marL="432000" indent="-324000" algn="l">
              <a:lnSpc>
                <a:spcPct val="12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Clique para editar o formato de texto dos tópicos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864000" lvl="1" indent="-324000" algn="l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2.º nível de tópicos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1296000" lvl="2" indent="-288000" algn="l">
              <a:lnSpc>
                <a:spcPct val="12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3.º nível de tópicos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1728000" lvl="3" indent="-216000" algn="l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4.º nível de tópicos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160000" lvl="4" indent="-216000" algn="l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5.º nível de tópicos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592000" lvl="5" indent="-216000" algn="l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6.º nível de tópicos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3024000" lvl="6" indent="-216000" algn="l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7.º nível de tópicos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12720" y="548640"/>
            <a:ext cx="10515600" cy="113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edit Master title style</a:t>
            </a:r>
            <a:endParaRPr lang="en-US" sz="36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612720" y="1680840"/>
            <a:ext cx="10515600" cy="44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4572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6858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9144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11430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6"/>
          </p:nvPr>
        </p:nvSpPr>
        <p:spPr>
          <a:xfrm>
            <a:off x="137160" y="6453000"/>
            <a:ext cx="34934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&lt;data/hora&gt;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7"/>
          </p:nvPr>
        </p:nvSpPr>
        <p:spPr>
          <a:xfrm>
            <a:off x="8877240" y="6453000"/>
            <a:ext cx="28047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&lt;rodapé&gt;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28"/>
          </p:nvPr>
        </p:nvSpPr>
        <p:spPr>
          <a:xfrm>
            <a:off x="11633040" y="6453000"/>
            <a:ext cx="4280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E9BFFE-F30F-4F44-B2B6-2A9A18FE476A}" type="slidenum"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9635760" y="578520"/>
            <a:ext cx="2046240" cy="559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edit Master title style</a:t>
            </a:r>
            <a:endParaRPr lang="en-US" sz="36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838080" y="578520"/>
            <a:ext cx="8796240" cy="559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4572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6858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9144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11430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29"/>
          </p:nvPr>
        </p:nvSpPr>
        <p:spPr>
          <a:xfrm>
            <a:off x="137160" y="6453000"/>
            <a:ext cx="34934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&lt;data/hora&gt;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0"/>
          </p:nvPr>
        </p:nvSpPr>
        <p:spPr>
          <a:xfrm>
            <a:off x="8877240" y="6453000"/>
            <a:ext cx="28047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&lt;rodapé&gt;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1"/>
          </p:nvPr>
        </p:nvSpPr>
        <p:spPr>
          <a:xfrm>
            <a:off x="11633040" y="6453000"/>
            <a:ext cx="4280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EA03D04-81AC-4A58-83D5-723A87305F25}" type="slidenum"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12720" y="548640"/>
            <a:ext cx="10653480" cy="113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edit Master title style</a:t>
            </a:r>
            <a:endParaRPr lang="en-US" sz="36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612720" y="1715400"/>
            <a:ext cx="10653480" cy="459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4572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6858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9144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11430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ftr" idx="32"/>
          </p:nvPr>
        </p:nvSpPr>
        <p:spPr>
          <a:xfrm>
            <a:off x="8877240" y="6453000"/>
            <a:ext cx="28047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&lt;rodapé&gt;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sldNum" idx="33"/>
          </p:nvPr>
        </p:nvSpPr>
        <p:spPr>
          <a:xfrm>
            <a:off x="11633040" y="6453000"/>
            <a:ext cx="4280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A39B366-8085-450C-9D96-C61BBAC8D719}" type="slidenum">
              <a:rPr lang="en-US" sz="9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editar 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formato do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texto do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Padrão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3"/>
          <p:cNvSpPr/>
          <p:nvPr/>
        </p:nvSpPr>
        <p:spPr>
          <a:xfrm>
            <a:off x="8877600" y="6453000"/>
            <a:ext cx="2804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Segoe UI"/>
              </a:rPr>
              <a:t>&lt;rodapé&gt;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adrão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3"/>
          <p:cNvSpPr/>
          <p:nvPr/>
        </p:nvSpPr>
        <p:spPr>
          <a:xfrm>
            <a:off x="8877600" y="6453000"/>
            <a:ext cx="2804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Segoe UI"/>
              </a:rPr>
              <a:t>&lt;rodapé&gt;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175320"/>
            <a:ext cx="109731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1_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ftr" idx="34"/>
          </p:nvPr>
        </p:nvSpPr>
        <p:spPr>
          <a:xfrm>
            <a:off x="8877240" y="6453000"/>
            <a:ext cx="28047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&lt;rodapé&gt;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sldNum" idx="35"/>
          </p:nvPr>
        </p:nvSpPr>
        <p:spPr>
          <a:xfrm>
            <a:off x="11633040" y="6453000"/>
            <a:ext cx="4280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67866A9-0233-4E84-B92F-ACD4432F0DDF}" type="slidenum"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dt" idx="36"/>
          </p:nvPr>
        </p:nvSpPr>
        <p:spPr>
          <a:xfrm>
            <a:off x="137160" y="6453000"/>
            <a:ext cx="34934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formato do texto do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adrão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540720"/>
            <a:ext cx="10973160" cy="609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pt-BR" sz="4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pt-BR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</a:t>
            </a:r>
            <a:r>
              <a:rPr lang="pt-BR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 </a:t>
            </a:r>
            <a:r>
              <a:rPr lang="pt-BR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editar o </a:t>
            </a:r>
            <a:r>
              <a:rPr lang="pt-BR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formato </a:t>
            </a:r>
            <a:r>
              <a:rPr lang="pt-BR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</a:t>
            </a:r>
            <a:r>
              <a:rPr lang="pt-BR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texto </a:t>
            </a:r>
            <a:r>
              <a:rPr lang="pt-BR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</a:t>
            </a:r>
            <a:r>
              <a:rPr lang="pt-BR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título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ftr" idx="37"/>
          </p:nvPr>
        </p:nvSpPr>
        <p:spPr>
          <a:xfrm>
            <a:off x="8877240" y="6453000"/>
            <a:ext cx="28047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&lt;rodapé&gt;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sldNum" idx="38"/>
          </p:nvPr>
        </p:nvSpPr>
        <p:spPr>
          <a:xfrm>
            <a:off x="11633040" y="6453000"/>
            <a:ext cx="4280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B1366B-1100-4EC7-8CA9-D2666038A624}" type="slidenum">
              <a:rPr lang="en-US" sz="9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 type="dt" idx="39"/>
          </p:nvPr>
        </p:nvSpPr>
        <p:spPr>
          <a:xfrm>
            <a:off x="137160" y="6453000"/>
            <a:ext cx="34934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2"/>
    <p:sldLayoutId id="2147483667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6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6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6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hyperlink" Target="https://www.opinionbox.com/nps/segmentos-avaliados/e-commerce-e-marketplaces/" TargetMode="External"/><Relationship Id="rId2" Type="http://schemas.openxmlformats.org/officeDocument/2006/relationships/hyperlink" Target="https://www.prax.ai/blog/benchmarks-ecommerce" TargetMode="External"/><Relationship Id="rId3" Type="http://schemas.openxmlformats.org/officeDocument/2006/relationships/slideLayout" Target="../slideLayouts/slideLayout1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0" y="720000"/>
            <a:ext cx="4859640" cy="3827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54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Neue Haas Grotesk Text Pro"/>
              </a:rPr>
              <a:t>1IAST</a:t>
            </a:r>
            <a:br>
              <a:rPr sz="5400"/>
            </a:br>
            <a:r>
              <a:rPr lang="pt-BR" sz="54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Neue Haas Grotesk Text Pro"/>
              </a:rPr>
              <a:t>Tech Challenge FASE 1</a:t>
            </a:r>
            <a:endParaRPr lang="pt-BR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subTitle"/>
          </p:nvPr>
        </p:nvSpPr>
        <p:spPr>
          <a:xfrm>
            <a:off x="703440" y="4945680"/>
            <a:ext cx="3379680" cy="84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lnSpcReduction="9999"/>
          </a:bodyPr>
          <a:p>
            <a:pPr indent="0" algn="ctr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Dieizon A. Ferreira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Neue Haas Grotesk Text Pro"/>
              </a:rPr>
              <a:t>RM: 371888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2" name="Picture 2"/>
          <p:cNvPicPr/>
          <p:nvPr/>
        </p:nvPicPr>
        <p:blipFill>
          <a:blip r:embed="rId1"/>
          <a:srcRect l="14679" t="0" r="6" b="5"/>
          <a:stretch/>
        </p:blipFill>
        <p:spPr>
          <a:xfrm>
            <a:off x="4876560" y="0"/>
            <a:ext cx="731556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Dieizon A. Ferreira ​  RM: 371888​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Picture 1"/>
          <p:cNvPicPr/>
          <p:nvPr/>
        </p:nvPicPr>
        <p:blipFill>
          <a:blip r:embed="rId1"/>
          <a:srcRect l="14679" t="0" r="6" b="5"/>
          <a:stretch/>
        </p:blipFill>
        <p:spPr>
          <a:xfrm>
            <a:off x="-540000" y="-1647720"/>
            <a:ext cx="12732120" cy="1193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PlaceHolder 1"/>
          <p:cNvSpPr>
            <a:spLocks noGrp="1"/>
          </p:cNvSpPr>
          <p:nvPr>
            <p:ph type="subTitle"/>
          </p:nvPr>
        </p:nvSpPr>
        <p:spPr>
          <a:xfrm>
            <a:off x="612720" y="808920"/>
            <a:ext cx="10653480" cy="513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111111"/>
                </a:solidFill>
                <a:effectLst/>
                <a:highlight>
                  <a:srgbClr val="EEEEEE"/>
                </a:highlight>
                <a:uFillTx/>
                <a:latin typeface="Segoe UI"/>
              </a:rPr>
              <a:t>Entendimento do Negócio</a:t>
            </a:r>
            <a:endParaRPr lang="pt-B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Dieizon A. Ferreira ​  RM: 371888​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69080" y="551880"/>
            <a:ext cx="10691280" cy="65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3600" b="1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Entendimento do Negócio</a:t>
            </a:r>
            <a:endParaRPr lang="en-US" sz="36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grpSp>
        <p:nvGrpSpPr>
          <p:cNvPr id="86" name=""/>
          <p:cNvGrpSpPr/>
          <p:nvPr/>
        </p:nvGrpSpPr>
        <p:grpSpPr>
          <a:xfrm>
            <a:off x="494640" y="1745640"/>
            <a:ext cx="3461040" cy="3959280"/>
            <a:chOff x="494640" y="1745640"/>
            <a:chExt cx="3461040" cy="3959280"/>
          </a:xfrm>
        </p:grpSpPr>
        <p:sp>
          <p:nvSpPr>
            <p:cNvPr id="87" name=""/>
            <p:cNvSpPr/>
            <p:nvPr/>
          </p:nvSpPr>
          <p:spPr>
            <a:xfrm>
              <a:off x="494640" y="1745640"/>
              <a:ext cx="3457080" cy="3959280"/>
            </a:xfrm>
            <a:prstGeom prst="rect">
              <a:avLst/>
            </a:prstGeom>
            <a:solidFill>
              <a:srgbClr val="107371"/>
            </a:solidFill>
            <a:ln w="36000">
              <a:solidFill>
                <a:srgbClr val="10737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Shape 52"/>
            <p:cNvSpPr/>
            <p:nvPr/>
          </p:nvSpPr>
          <p:spPr>
            <a:xfrm>
              <a:off x="494640" y="2123280"/>
              <a:ext cx="3461040" cy="358164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algn="bl" blurRad="101520" dir="8100000" dist="37674" kx="0" ky="0" rotWithShape="0" sx="100000" sy="100000">
                <a:srgbClr val="000000">
                  <a:alpha val="1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b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Segoe UI"/>
              </a:endParaRPr>
            </a:p>
          </p:txBody>
        </p:sp>
      </p:grpSp>
      <p:pic>
        <p:nvPicPr>
          <p:cNvPr id="89" name="Imagem 5"/>
          <p:cNvPicPr/>
          <p:nvPr/>
        </p:nvPicPr>
        <p:blipFill>
          <a:blip r:embed="rId1"/>
          <a:stretch/>
        </p:blipFill>
        <p:spPr>
          <a:xfrm>
            <a:off x="1800000" y="2159280"/>
            <a:ext cx="843480" cy="8222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90" name=""/>
          <p:cNvGrpSpPr/>
          <p:nvPr/>
        </p:nvGrpSpPr>
        <p:grpSpPr>
          <a:xfrm>
            <a:off x="4278960" y="1728000"/>
            <a:ext cx="3461040" cy="3959280"/>
            <a:chOff x="4278960" y="1728000"/>
            <a:chExt cx="3461040" cy="3959280"/>
          </a:xfrm>
        </p:grpSpPr>
        <p:sp>
          <p:nvSpPr>
            <p:cNvPr id="91" name=""/>
            <p:cNvSpPr/>
            <p:nvPr/>
          </p:nvSpPr>
          <p:spPr>
            <a:xfrm>
              <a:off x="4278960" y="1728000"/>
              <a:ext cx="3457080" cy="3959280"/>
            </a:xfrm>
            <a:prstGeom prst="rect">
              <a:avLst/>
            </a:prstGeom>
            <a:solidFill>
              <a:srgbClr val="107371"/>
            </a:solidFill>
            <a:ln w="36000">
              <a:solidFill>
                <a:srgbClr val="10737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Shape 52"/>
            <p:cNvSpPr/>
            <p:nvPr/>
          </p:nvSpPr>
          <p:spPr>
            <a:xfrm>
              <a:off x="4278960" y="2105640"/>
              <a:ext cx="3461040" cy="358164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algn="bl" blurRad="101520" dir="8100000" dist="37674" kx="0" ky="0" rotWithShape="0" sx="100000" sy="100000">
                <a:srgbClr val="000000">
                  <a:alpha val="1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b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Segoe UI"/>
              </a:endParaRPr>
            </a:p>
          </p:txBody>
        </p:sp>
      </p:grpSp>
      <p:grpSp>
        <p:nvGrpSpPr>
          <p:cNvPr id="93" name=""/>
          <p:cNvGrpSpPr/>
          <p:nvPr/>
        </p:nvGrpSpPr>
        <p:grpSpPr>
          <a:xfrm>
            <a:off x="8100360" y="1728000"/>
            <a:ext cx="3461040" cy="3959280"/>
            <a:chOff x="8100360" y="1728000"/>
            <a:chExt cx="3461040" cy="3959280"/>
          </a:xfrm>
        </p:grpSpPr>
        <p:sp>
          <p:nvSpPr>
            <p:cNvPr id="94" name=""/>
            <p:cNvSpPr/>
            <p:nvPr/>
          </p:nvSpPr>
          <p:spPr>
            <a:xfrm>
              <a:off x="8100360" y="1728000"/>
              <a:ext cx="3457080" cy="3959280"/>
            </a:xfrm>
            <a:prstGeom prst="rect">
              <a:avLst/>
            </a:prstGeom>
            <a:solidFill>
              <a:srgbClr val="107371"/>
            </a:solidFill>
            <a:ln w="36000">
              <a:solidFill>
                <a:srgbClr val="10737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Shape 52"/>
            <p:cNvSpPr/>
            <p:nvPr/>
          </p:nvSpPr>
          <p:spPr>
            <a:xfrm>
              <a:off x="8100360" y="2105640"/>
              <a:ext cx="3461040" cy="358164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algn="bl" blurRad="101520" dir="8100000" dist="37674" kx="0" ky="0" rotWithShape="0" sx="100000" sy="100000">
                <a:srgbClr val="000000">
                  <a:alpha val="1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b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Segoe UI"/>
              </a:endParaRPr>
            </a:p>
          </p:txBody>
        </p:sp>
      </p:grpSp>
      <p:pic>
        <p:nvPicPr>
          <p:cNvPr id="96" name="Imagem 4"/>
          <p:cNvPicPr/>
          <p:nvPr/>
        </p:nvPicPr>
        <p:blipFill>
          <a:blip r:embed="rId2"/>
          <a:stretch/>
        </p:blipFill>
        <p:spPr>
          <a:xfrm>
            <a:off x="5580360" y="2105640"/>
            <a:ext cx="885960" cy="79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7" name="Imagem 6"/>
          <p:cNvPicPr/>
          <p:nvPr/>
        </p:nvPicPr>
        <p:blipFill>
          <a:blip r:embed="rId3"/>
          <a:stretch/>
        </p:blipFill>
        <p:spPr>
          <a:xfrm>
            <a:off x="9459000" y="2144520"/>
            <a:ext cx="801000" cy="79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"/>
          <p:cNvSpPr/>
          <p:nvPr/>
        </p:nvSpPr>
        <p:spPr>
          <a:xfrm>
            <a:off x="540000" y="3060000"/>
            <a:ext cx="3239640" cy="237492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Cenário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Enfrentamos um crescimento acelerado e foi percebido uma alta variabilidade no NPS entre diferentes perfis de clientes, mesmo com indicadores operacionais aparentemente semelhantes.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4320360" y="3060000"/>
            <a:ext cx="3419640" cy="188748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Problema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O NPS é coletado apenas após o encerramento da jornada de compra, isso limita a capacidade de antecipar problemas e a agir de forma preventiva.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8100360" y="3060000"/>
            <a:ext cx="3457080" cy="188748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Objetivo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Transformar dados operacionais como pedidos, logística e atendimento em insights acionáveis para melhorar a experiência antes da pesquisa ser aplicada.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Dieizon A. Ferreira ​  RM: 371888​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ítulo 5"/>
          <p:cNvSpPr/>
          <p:nvPr/>
        </p:nvSpPr>
        <p:spPr>
          <a:xfrm>
            <a:off x="612720" y="548640"/>
            <a:ext cx="10653480" cy="11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defTabSz="914400">
              <a:lnSpc>
                <a:spcPct val="90000"/>
              </a:lnSpc>
            </a:pPr>
            <a:r>
              <a:rPr lang="pt-BR" sz="3600" b="1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Por que o NPS é estratégico?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2" name=""/>
          <p:cNvGrpSpPr/>
          <p:nvPr/>
        </p:nvGrpSpPr>
        <p:grpSpPr>
          <a:xfrm>
            <a:off x="540000" y="1620000"/>
            <a:ext cx="6660000" cy="1259280"/>
            <a:chOff x="540000" y="1620000"/>
            <a:chExt cx="6660000" cy="1259280"/>
          </a:xfrm>
        </p:grpSpPr>
        <p:sp>
          <p:nvSpPr>
            <p:cNvPr id="103" name=""/>
            <p:cNvSpPr/>
            <p:nvPr/>
          </p:nvSpPr>
          <p:spPr>
            <a:xfrm>
              <a:off x="540000" y="1620000"/>
              <a:ext cx="6652440" cy="1259280"/>
            </a:xfrm>
            <a:prstGeom prst="rect">
              <a:avLst/>
            </a:prstGeom>
            <a:solidFill>
              <a:srgbClr val="107371"/>
            </a:solidFill>
            <a:ln w="36000">
              <a:solidFill>
                <a:srgbClr val="10737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" name="Shape 52"/>
            <p:cNvSpPr/>
            <p:nvPr/>
          </p:nvSpPr>
          <p:spPr>
            <a:xfrm>
              <a:off x="540000" y="1740240"/>
              <a:ext cx="6660000" cy="113904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algn="bl" blurRad="101520" dir="8100000" dist="37674" kx="0" ky="0" rotWithShape="0" sx="100000" sy="100000">
                <a:srgbClr val="000000">
                  <a:alpha val="1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b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Segoe UI"/>
              </a:endParaRPr>
            </a:p>
          </p:txBody>
        </p:sp>
      </p:grpSp>
      <p:pic>
        <p:nvPicPr>
          <p:cNvPr id="105" name="Imagem 7"/>
          <p:cNvPicPr/>
          <p:nvPr/>
        </p:nvPicPr>
        <p:blipFill>
          <a:blip r:embed="rId1"/>
          <a:stretch/>
        </p:blipFill>
        <p:spPr>
          <a:xfrm>
            <a:off x="540000" y="1740240"/>
            <a:ext cx="443160" cy="42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"/>
          <p:cNvSpPr/>
          <p:nvPr/>
        </p:nvSpPr>
        <p:spPr>
          <a:xfrm>
            <a:off x="983880" y="1740240"/>
            <a:ext cx="2519640" cy="39456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Recompra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540000" y="2160000"/>
            <a:ext cx="6660000" cy="60804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7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Promotores recompram mais, detratores tendem a abandonar a marca após experiências negativas.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8" name=""/>
          <p:cNvGrpSpPr/>
          <p:nvPr/>
        </p:nvGrpSpPr>
        <p:grpSpPr>
          <a:xfrm>
            <a:off x="540000" y="3493080"/>
            <a:ext cx="6660000" cy="1259280"/>
            <a:chOff x="540000" y="3493080"/>
            <a:chExt cx="6660000" cy="1259280"/>
          </a:xfrm>
        </p:grpSpPr>
        <p:sp>
          <p:nvSpPr>
            <p:cNvPr id="109" name=""/>
            <p:cNvSpPr/>
            <p:nvPr/>
          </p:nvSpPr>
          <p:spPr>
            <a:xfrm>
              <a:off x="540000" y="3493080"/>
              <a:ext cx="6652440" cy="1259280"/>
            </a:xfrm>
            <a:prstGeom prst="rect">
              <a:avLst/>
            </a:prstGeom>
            <a:solidFill>
              <a:srgbClr val="107371"/>
            </a:solidFill>
            <a:ln w="36000">
              <a:solidFill>
                <a:srgbClr val="10737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" name="Shape 52"/>
            <p:cNvSpPr/>
            <p:nvPr/>
          </p:nvSpPr>
          <p:spPr>
            <a:xfrm>
              <a:off x="540000" y="3613320"/>
              <a:ext cx="6660000" cy="113904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algn="bl" blurRad="101520" dir="8100000" dist="37674" kx="0" ky="0" rotWithShape="0" sx="100000" sy="100000">
                <a:srgbClr val="000000">
                  <a:alpha val="1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b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Segoe UI"/>
              </a:endParaRPr>
            </a:p>
          </p:txBody>
        </p:sp>
      </p:grpSp>
      <p:grpSp>
        <p:nvGrpSpPr>
          <p:cNvPr id="111" name=""/>
          <p:cNvGrpSpPr/>
          <p:nvPr/>
        </p:nvGrpSpPr>
        <p:grpSpPr>
          <a:xfrm>
            <a:off x="540000" y="5220000"/>
            <a:ext cx="6660000" cy="1259280"/>
            <a:chOff x="540000" y="5220000"/>
            <a:chExt cx="6660000" cy="1259280"/>
          </a:xfrm>
        </p:grpSpPr>
        <p:sp>
          <p:nvSpPr>
            <p:cNvPr id="112" name=""/>
            <p:cNvSpPr/>
            <p:nvPr/>
          </p:nvSpPr>
          <p:spPr>
            <a:xfrm>
              <a:off x="540000" y="5220000"/>
              <a:ext cx="6652440" cy="1259280"/>
            </a:xfrm>
            <a:prstGeom prst="rect">
              <a:avLst/>
            </a:prstGeom>
            <a:solidFill>
              <a:srgbClr val="107371"/>
            </a:solidFill>
            <a:ln w="36000">
              <a:solidFill>
                <a:srgbClr val="10737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" name="Shape 52"/>
            <p:cNvSpPr/>
            <p:nvPr/>
          </p:nvSpPr>
          <p:spPr>
            <a:xfrm>
              <a:off x="540000" y="5340240"/>
              <a:ext cx="6660000" cy="113904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algn="bl" blurRad="101520" dir="8100000" dist="37674" kx="0" ky="0" rotWithShape="0" sx="100000" sy="100000">
                <a:srgbClr val="000000">
                  <a:alpha val="1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b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Segoe UI"/>
              </a:endParaRPr>
            </a:p>
          </p:txBody>
        </p:sp>
      </p:grpSp>
      <p:pic>
        <p:nvPicPr>
          <p:cNvPr id="114" name="Imagem 8"/>
          <p:cNvPicPr/>
          <p:nvPr/>
        </p:nvPicPr>
        <p:blipFill>
          <a:blip r:embed="rId2"/>
          <a:stretch/>
        </p:blipFill>
        <p:spPr>
          <a:xfrm>
            <a:off x="540000" y="3636000"/>
            <a:ext cx="406080" cy="4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"/>
          <p:cNvSpPr/>
          <p:nvPr/>
        </p:nvSpPr>
        <p:spPr>
          <a:xfrm>
            <a:off x="936000" y="3613320"/>
            <a:ext cx="1979280" cy="39456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Boca a boca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540000" y="4068000"/>
            <a:ext cx="6660000" cy="60804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7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Um promotor indica a marca espontaneamente, um detrator compartilha experiências negativas com muito mais alcance.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7" name="Imagem 9"/>
          <p:cNvPicPr/>
          <p:nvPr/>
        </p:nvPicPr>
        <p:blipFill>
          <a:blip r:embed="rId3"/>
          <a:stretch/>
        </p:blipFill>
        <p:spPr>
          <a:xfrm>
            <a:off x="540000" y="5354640"/>
            <a:ext cx="476280" cy="45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"/>
          <p:cNvSpPr/>
          <p:nvPr/>
        </p:nvSpPr>
        <p:spPr>
          <a:xfrm>
            <a:off x="540000" y="5832000"/>
            <a:ext cx="6660000" cy="60804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7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NPS consistentemente baixo corrói participação de mercado, pois o custo de aquisição de novos clientes supera a retenção.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1008000" y="5400000"/>
            <a:ext cx="3959640" cy="39456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Market Share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0" name=""/>
          <p:cNvGrpSpPr/>
          <p:nvPr/>
        </p:nvGrpSpPr>
        <p:grpSpPr>
          <a:xfrm>
            <a:off x="7560360" y="1620000"/>
            <a:ext cx="4139640" cy="4859280"/>
            <a:chOff x="7560360" y="1620000"/>
            <a:chExt cx="4139640" cy="4859280"/>
          </a:xfrm>
        </p:grpSpPr>
        <p:sp>
          <p:nvSpPr>
            <p:cNvPr id="121" name=""/>
            <p:cNvSpPr/>
            <p:nvPr/>
          </p:nvSpPr>
          <p:spPr>
            <a:xfrm>
              <a:off x="7560360" y="1620000"/>
              <a:ext cx="4134960" cy="4859280"/>
            </a:xfrm>
            <a:prstGeom prst="rect">
              <a:avLst/>
            </a:prstGeom>
            <a:solidFill>
              <a:srgbClr val="107371"/>
            </a:solidFill>
            <a:ln w="36000">
              <a:solidFill>
                <a:srgbClr val="10737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" name="Shape 52"/>
            <p:cNvSpPr/>
            <p:nvPr/>
          </p:nvSpPr>
          <p:spPr>
            <a:xfrm>
              <a:off x="7560360" y="2083680"/>
              <a:ext cx="4139640" cy="43956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algn="bl" blurRad="101520" dir="8100000" dist="37674" kx="0" ky="0" rotWithShape="0" sx="100000" sy="100000">
                <a:srgbClr val="000000">
                  <a:alpha val="1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b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Segoe UI"/>
              </a:endParaRPr>
            </a:p>
          </p:txBody>
        </p:sp>
      </p:grpSp>
      <p:sp>
        <p:nvSpPr>
          <p:cNvPr id="123" name=""/>
          <p:cNvSpPr/>
          <p:nvPr/>
        </p:nvSpPr>
        <p:spPr>
          <a:xfrm>
            <a:off x="7740360" y="1620000"/>
            <a:ext cx="3779640" cy="42480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200" b="0" u="none" strike="noStrike">
                <a:solidFill>
                  <a:srgbClr val="FFFFFF"/>
                </a:solidFill>
                <a:effectLst/>
                <a:uFillTx/>
                <a:latin typeface="Segoe UI"/>
              </a:rPr>
              <a:t>Indicadores de Mercado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7740360" y="2340000"/>
            <a:ext cx="3779640" cy="50112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Benchmark NPS e-commerce: 56–60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t-BR" sz="1100" b="1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Nosso: -66 (8% - 74%)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7740360" y="3339000"/>
            <a:ext cx="3779640" cy="74484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Prazo de entrega médio: Entrega em até 6 dias corridos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t-BR" sz="1100" b="1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Nosso: 8 dias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7740360" y="4253760"/>
            <a:ext cx="3599640" cy="115632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Taxa média de recompra saudável: &gt;30% em 127 dias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t-BR" sz="1100" b="1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Nosso: Estimado em 37% (Projetado para 127 dias de forma linear)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7740360" y="5580000"/>
            <a:ext cx="3599640" cy="74484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CSAT mínimo esperado pelo mercado: 82%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t-BR" sz="1100" b="1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Nosso: 29%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Dieizon A. Ferreira ​  RM: 371888​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Picture 3"/>
          <p:cNvPicPr/>
          <p:nvPr/>
        </p:nvPicPr>
        <p:blipFill>
          <a:blip r:embed="rId1"/>
          <a:srcRect l="14679" t="0" r="6" b="5"/>
          <a:stretch/>
        </p:blipFill>
        <p:spPr>
          <a:xfrm>
            <a:off x="-540000" y="-1647720"/>
            <a:ext cx="12732120" cy="1193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PlaceHolder 1"/>
          <p:cNvSpPr>
            <a:spLocks noGrp="1"/>
          </p:cNvSpPr>
          <p:nvPr>
            <p:ph type="subTitle"/>
          </p:nvPr>
        </p:nvSpPr>
        <p:spPr>
          <a:xfrm>
            <a:off x="612720" y="808920"/>
            <a:ext cx="10653480" cy="513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111111"/>
                </a:solidFill>
                <a:effectLst/>
                <a:highlight>
                  <a:srgbClr val="EEEEEE"/>
                </a:highlight>
                <a:uFillTx/>
                <a:latin typeface="Segoe UI"/>
              </a:rPr>
              <a:t>Analise exploratória</a:t>
            </a:r>
            <a:endParaRPr lang="pt-B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Dieizon A. Ferreira ​  RM: 371888​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396720" y="512640"/>
            <a:ext cx="10653480" cy="113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3600" b="1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Principais correlações entre Variáveis e NPS</a:t>
            </a:r>
            <a:endParaRPr lang="en-US" sz="36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31" name="Retângulo 6"/>
          <p:cNvSpPr/>
          <p:nvPr/>
        </p:nvSpPr>
        <p:spPr>
          <a:xfrm>
            <a:off x="91440" y="6522840"/>
            <a:ext cx="710280" cy="283320"/>
          </a:xfrm>
          <a:prstGeom prst="rect">
            <a:avLst/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Neue Haas Grotesk Text Pro"/>
            </a:endParaRPr>
          </a:p>
        </p:txBody>
      </p:sp>
      <p:graphicFrame>
        <p:nvGraphicFramePr>
          <p:cNvPr id="132" name=""/>
          <p:cNvGraphicFramePr/>
          <p:nvPr/>
        </p:nvGraphicFramePr>
        <p:xfrm>
          <a:off x="252000" y="1163160"/>
          <a:ext cx="6477120" cy="5194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pSp>
        <p:nvGrpSpPr>
          <p:cNvPr id="133" name=""/>
          <p:cNvGrpSpPr/>
          <p:nvPr/>
        </p:nvGrpSpPr>
        <p:grpSpPr>
          <a:xfrm>
            <a:off x="6840360" y="1287720"/>
            <a:ext cx="4859640" cy="1411560"/>
            <a:chOff x="6840360" y="1287720"/>
            <a:chExt cx="4859640" cy="1411560"/>
          </a:xfrm>
        </p:grpSpPr>
        <p:sp>
          <p:nvSpPr>
            <p:cNvPr id="134" name=""/>
            <p:cNvSpPr/>
            <p:nvPr/>
          </p:nvSpPr>
          <p:spPr>
            <a:xfrm>
              <a:off x="6840360" y="1287720"/>
              <a:ext cx="4854960" cy="1411560"/>
            </a:xfrm>
            <a:prstGeom prst="rect">
              <a:avLst/>
            </a:prstGeom>
            <a:solidFill>
              <a:srgbClr val="C9211E"/>
            </a:solidFill>
            <a:ln w="36000">
              <a:solidFill>
                <a:srgbClr val="C9211E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" name="Shape 52"/>
            <p:cNvSpPr/>
            <p:nvPr/>
          </p:nvSpPr>
          <p:spPr>
            <a:xfrm>
              <a:off x="6840360" y="1422360"/>
              <a:ext cx="4859640" cy="127692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algn="bl" blurRad="101520" dir="8100000" dist="37674" kx="0" ky="0" rotWithShape="0" sx="100000" sy="100000">
                <a:srgbClr val="000000">
                  <a:alpha val="1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b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Segoe UI"/>
              </a:endParaRPr>
            </a:p>
          </p:txBody>
        </p:sp>
      </p:grpSp>
      <p:grpSp>
        <p:nvGrpSpPr>
          <p:cNvPr id="136" name=""/>
          <p:cNvGrpSpPr/>
          <p:nvPr/>
        </p:nvGrpSpPr>
        <p:grpSpPr>
          <a:xfrm>
            <a:off x="6840360" y="3074040"/>
            <a:ext cx="4859640" cy="1411560"/>
            <a:chOff x="6840360" y="3074040"/>
            <a:chExt cx="4859640" cy="1411560"/>
          </a:xfrm>
        </p:grpSpPr>
        <p:sp>
          <p:nvSpPr>
            <p:cNvPr id="137" name=""/>
            <p:cNvSpPr/>
            <p:nvPr/>
          </p:nvSpPr>
          <p:spPr>
            <a:xfrm>
              <a:off x="6840360" y="3074040"/>
              <a:ext cx="4854960" cy="1411560"/>
            </a:xfrm>
            <a:prstGeom prst="rect">
              <a:avLst/>
            </a:prstGeom>
            <a:solidFill>
              <a:srgbClr val="3D9072"/>
            </a:solidFill>
            <a:ln w="36000">
              <a:solidFill>
                <a:srgbClr val="3D9072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8" name="Shape 52"/>
            <p:cNvSpPr/>
            <p:nvPr/>
          </p:nvSpPr>
          <p:spPr>
            <a:xfrm>
              <a:off x="6840360" y="3208680"/>
              <a:ext cx="4859640" cy="127692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algn="bl" blurRad="101520" dir="8100000" dist="37674" kx="0" ky="0" rotWithShape="0" sx="100000" sy="100000">
                <a:srgbClr val="000000">
                  <a:alpha val="1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b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Segoe UI"/>
              </a:endParaRPr>
            </a:p>
          </p:txBody>
        </p:sp>
      </p:grpSp>
      <p:grpSp>
        <p:nvGrpSpPr>
          <p:cNvPr id="139" name=""/>
          <p:cNvGrpSpPr/>
          <p:nvPr/>
        </p:nvGrpSpPr>
        <p:grpSpPr>
          <a:xfrm>
            <a:off x="6840360" y="4860000"/>
            <a:ext cx="4859640" cy="1411560"/>
            <a:chOff x="6840360" y="4860000"/>
            <a:chExt cx="4859640" cy="1411560"/>
          </a:xfrm>
        </p:grpSpPr>
        <p:sp>
          <p:nvSpPr>
            <p:cNvPr id="140" name=""/>
            <p:cNvSpPr/>
            <p:nvPr/>
          </p:nvSpPr>
          <p:spPr>
            <a:xfrm>
              <a:off x="6840360" y="4860000"/>
              <a:ext cx="4854960" cy="1411560"/>
            </a:xfrm>
            <a:prstGeom prst="rect">
              <a:avLst/>
            </a:prstGeom>
            <a:solidFill>
              <a:srgbClr val="E78A67"/>
            </a:solidFill>
            <a:ln w="36000">
              <a:solidFill>
                <a:srgbClr val="E78A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" name="Shape 52"/>
            <p:cNvSpPr/>
            <p:nvPr/>
          </p:nvSpPr>
          <p:spPr>
            <a:xfrm>
              <a:off x="6840360" y="4994640"/>
              <a:ext cx="4859640" cy="127692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algn="bl" blurRad="101520" dir="8100000" dist="37674" kx="0" ky="0" rotWithShape="0" sx="100000" sy="100000">
                <a:srgbClr val="000000">
                  <a:alpha val="1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b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Segoe UI"/>
              </a:endParaRPr>
            </a:p>
          </p:txBody>
        </p:sp>
      </p:grpSp>
      <p:sp>
        <p:nvSpPr>
          <p:cNvPr id="142" name="CaixaDeTexto 1"/>
          <p:cNvSpPr/>
          <p:nvPr/>
        </p:nvSpPr>
        <p:spPr>
          <a:xfrm>
            <a:off x="7014240" y="1440000"/>
            <a:ext cx="145296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200" b="1" u="none" strike="noStrike">
                <a:solidFill>
                  <a:srgbClr val="C9211E"/>
                </a:solidFill>
                <a:effectLst/>
                <a:uFillTx/>
                <a:latin typeface="Segoe UI"/>
                <a:ea typeface="Calibri"/>
              </a:rPr>
              <a:t>-0.60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CaixaDeTexto 2"/>
          <p:cNvSpPr/>
          <p:nvPr/>
        </p:nvSpPr>
        <p:spPr>
          <a:xfrm>
            <a:off x="7013880" y="1980360"/>
            <a:ext cx="2256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Dias de atraso na entrega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>
            <a:off x="7013880" y="2340000"/>
            <a:ext cx="2256120" cy="27252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Correlação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 </a:t>
            </a: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mais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 forte </a:t>
            </a: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negativa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CaixaDeTexto 9"/>
          <p:cNvSpPr/>
          <p:nvPr/>
        </p:nvSpPr>
        <p:spPr>
          <a:xfrm>
            <a:off x="7012800" y="3751200"/>
            <a:ext cx="22572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Recompra em até 30 dias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CaixaDeTexto 10"/>
          <p:cNvSpPr/>
          <p:nvPr/>
        </p:nvSpPr>
        <p:spPr>
          <a:xfrm>
            <a:off x="7070760" y="3232800"/>
            <a:ext cx="13176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200" b="1" u="none" strike="noStrike">
                <a:solidFill>
                  <a:srgbClr val="3D9072"/>
                </a:solidFill>
                <a:effectLst/>
                <a:uFillTx/>
                <a:latin typeface="Segoe UI"/>
                <a:ea typeface="Calibri"/>
              </a:rPr>
              <a:t>+0.57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7013880" y="4147200"/>
            <a:ext cx="2046240" cy="27252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Maior indicador positivo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CaixaDeTexto 11"/>
          <p:cNvSpPr/>
          <p:nvPr/>
        </p:nvSpPr>
        <p:spPr>
          <a:xfrm>
            <a:off x="7012800" y="5544360"/>
            <a:ext cx="44028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São detratores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CaixaDeTexto 12"/>
          <p:cNvSpPr/>
          <p:nvPr/>
        </p:nvSpPr>
        <p:spPr>
          <a:xfrm>
            <a:off x="7076880" y="4991760"/>
            <a:ext cx="14526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200" b="1" u="none" strike="noStrike">
                <a:solidFill>
                  <a:srgbClr val="E78A67"/>
                </a:solidFill>
                <a:effectLst/>
                <a:uFillTx/>
                <a:latin typeface="Segoe UI"/>
                <a:ea typeface="Calibri"/>
              </a:rPr>
              <a:t>74%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7012800" y="5904360"/>
            <a:ext cx="2256120" cy="27252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na base analisada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Dieizon A. Ferreira ​  RM: 371888​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612720" y="548640"/>
            <a:ext cx="10653480" cy="113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36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Definição da Variável Alvo (Target)</a:t>
            </a:r>
            <a:endParaRPr lang="en-US" sz="36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grpSp>
        <p:nvGrpSpPr>
          <p:cNvPr id="152" name=""/>
          <p:cNvGrpSpPr/>
          <p:nvPr/>
        </p:nvGrpSpPr>
        <p:grpSpPr>
          <a:xfrm>
            <a:off x="612720" y="1381320"/>
            <a:ext cx="3239640" cy="2638440"/>
            <a:chOff x="612720" y="1381320"/>
            <a:chExt cx="3239640" cy="2638440"/>
          </a:xfrm>
        </p:grpSpPr>
        <p:sp>
          <p:nvSpPr>
            <p:cNvPr id="153" name=""/>
            <p:cNvSpPr/>
            <p:nvPr/>
          </p:nvSpPr>
          <p:spPr>
            <a:xfrm>
              <a:off x="612720" y="1381320"/>
              <a:ext cx="3236040" cy="2638440"/>
            </a:xfrm>
            <a:prstGeom prst="rect">
              <a:avLst/>
            </a:prstGeom>
            <a:solidFill>
              <a:srgbClr val="A74B40"/>
            </a:solidFill>
            <a:ln w="36000">
              <a:solidFill>
                <a:srgbClr val="A74B4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lang="pt-BR" sz="2400" b="0" u="none" strike="noStrike">
                  <a:solidFill>
                    <a:schemeClr val="lt1"/>
                  </a:solidFill>
                  <a:effectLst/>
                  <a:uFillTx/>
                  <a:latin typeface="Segoe UI"/>
                </a:rPr>
                <a:t>Detratores</a:t>
              </a:r>
              <a:endParaRPr lang="pt-BR" sz="2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4" name="Shape 52"/>
            <p:cNvSpPr/>
            <p:nvPr/>
          </p:nvSpPr>
          <p:spPr>
            <a:xfrm>
              <a:off x="612720" y="1903680"/>
              <a:ext cx="3239640" cy="211608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algn="bl" blurRad="101520" dir="8100000" dist="37674" kx="0" ky="0" rotWithShape="0" sx="100000" sy="100000">
                <a:srgbClr val="000000">
                  <a:alpha val="1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b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Segoe UI"/>
              </a:endParaRPr>
            </a:p>
          </p:txBody>
        </p:sp>
        <p:sp>
          <p:nvSpPr>
            <p:cNvPr id="155" name=""/>
            <p:cNvSpPr/>
            <p:nvPr/>
          </p:nvSpPr>
          <p:spPr>
            <a:xfrm>
              <a:off x="792000" y="1980000"/>
              <a:ext cx="2879640" cy="899280"/>
            </a:xfrm>
            <a:prstGeom prst="rect">
              <a:avLst/>
            </a:prstGeom>
            <a:solidFill>
              <a:srgbClr val="A74B40"/>
            </a:solidFill>
            <a:ln w="36000">
              <a:solidFill>
                <a:srgbClr val="A74B4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lang="pt-BR" sz="2400" b="0" u="none" strike="noStrike">
                  <a:solidFill>
                    <a:schemeClr val="lt1"/>
                  </a:solidFill>
                  <a:effectLst/>
                  <a:uFillTx/>
                  <a:latin typeface="Segoe UI"/>
                </a:rPr>
                <a:t>NPS</a:t>
              </a:r>
              <a:endParaRPr lang="pt-BR" sz="2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  <a:p>
              <a:pPr algn="ctr" defTabSz="914400">
                <a:lnSpc>
                  <a:spcPct val="100000"/>
                </a:lnSpc>
              </a:pPr>
              <a:r>
                <a:rPr lang="pt-BR" sz="2400" b="0" u="none" strike="noStrike">
                  <a:solidFill>
                    <a:schemeClr val="lt1"/>
                  </a:solidFill>
                  <a:effectLst/>
                  <a:uFillTx/>
                  <a:latin typeface="Segoe UI"/>
                </a:rPr>
                <a:t>0 – 6</a:t>
              </a:r>
              <a:endParaRPr lang="pt-BR" sz="2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" name=""/>
            <p:cNvSpPr/>
            <p:nvPr/>
          </p:nvSpPr>
          <p:spPr>
            <a:xfrm>
              <a:off x="792000" y="3240000"/>
              <a:ext cx="2879640" cy="539280"/>
            </a:xfrm>
            <a:prstGeom prst="rect">
              <a:avLst/>
            </a:prstGeom>
            <a:solidFill>
              <a:srgbClr val="A74B40"/>
            </a:solidFill>
            <a:ln w="36000">
              <a:solidFill>
                <a:srgbClr val="A74B4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lang="pt-BR" sz="1800" b="0" u="none" strike="noStrike">
                  <a:solidFill>
                    <a:schemeClr val="lt1"/>
                  </a:solidFill>
                  <a:effectLst/>
                  <a:uFillTx/>
                  <a:latin typeface="Segoe UI"/>
                </a:rPr>
                <a:t>74% Clientes</a:t>
              </a:r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57" name=""/>
          <p:cNvGrpSpPr/>
          <p:nvPr/>
        </p:nvGrpSpPr>
        <p:grpSpPr>
          <a:xfrm>
            <a:off x="4446720" y="1381680"/>
            <a:ext cx="3239640" cy="2638440"/>
            <a:chOff x="4446720" y="1381680"/>
            <a:chExt cx="3239640" cy="2638440"/>
          </a:xfrm>
        </p:grpSpPr>
        <p:sp>
          <p:nvSpPr>
            <p:cNvPr id="158" name=""/>
            <p:cNvSpPr/>
            <p:nvPr/>
          </p:nvSpPr>
          <p:spPr>
            <a:xfrm>
              <a:off x="4446720" y="1381680"/>
              <a:ext cx="3236040" cy="2638440"/>
            </a:xfrm>
            <a:prstGeom prst="rect">
              <a:avLst/>
            </a:prstGeom>
            <a:solidFill>
              <a:srgbClr val="E78A67"/>
            </a:solidFill>
            <a:ln w="36000">
              <a:solidFill>
                <a:srgbClr val="E78A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lang="pt-BR" sz="2400" b="0" u="none" strike="noStrike">
                  <a:solidFill>
                    <a:schemeClr val="lt1"/>
                  </a:solidFill>
                  <a:effectLst/>
                  <a:uFillTx/>
                  <a:latin typeface="Segoe UI"/>
                </a:rPr>
                <a:t>Neutros</a:t>
              </a:r>
              <a:endPara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Shape 52"/>
            <p:cNvSpPr/>
            <p:nvPr/>
          </p:nvSpPr>
          <p:spPr>
            <a:xfrm>
              <a:off x="4446720" y="1904040"/>
              <a:ext cx="3239640" cy="211608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algn="bl" blurRad="101520" dir="8100000" dist="37674" kx="0" ky="0" rotWithShape="0" sx="100000" sy="100000">
                <a:srgbClr val="000000">
                  <a:alpha val="1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b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Segoe UI"/>
              </a:endParaRPr>
            </a:p>
          </p:txBody>
        </p:sp>
        <p:sp>
          <p:nvSpPr>
            <p:cNvPr id="160" name=""/>
            <p:cNvSpPr/>
            <p:nvPr/>
          </p:nvSpPr>
          <p:spPr>
            <a:xfrm>
              <a:off x="4626000" y="1980360"/>
              <a:ext cx="2879640" cy="899280"/>
            </a:xfrm>
            <a:prstGeom prst="rect">
              <a:avLst/>
            </a:prstGeom>
            <a:solidFill>
              <a:srgbClr val="E78A67"/>
            </a:solidFill>
            <a:ln w="36000">
              <a:solidFill>
                <a:srgbClr val="E78A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lang="pt-BR" sz="2400" b="0" u="none" strike="noStrike">
                  <a:solidFill>
                    <a:schemeClr val="lt1"/>
                  </a:solidFill>
                  <a:effectLst/>
                  <a:uFillTx/>
                  <a:latin typeface="Segoe UI"/>
                </a:rPr>
                <a:t>NPS</a:t>
              </a:r>
              <a:endPara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 defTabSz="914400">
                <a:lnSpc>
                  <a:spcPct val="100000"/>
                </a:lnSpc>
              </a:pPr>
              <a:r>
                <a:rPr lang="pt-BR" sz="2400" b="0" u="none" strike="noStrike">
                  <a:solidFill>
                    <a:schemeClr val="lt1"/>
                  </a:solidFill>
                  <a:effectLst/>
                  <a:uFillTx/>
                  <a:latin typeface="Segoe UI"/>
                </a:rPr>
                <a:t>7 – 8</a:t>
              </a:r>
              <a:endPara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" name=""/>
            <p:cNvSpPr/>
            <p:nvPr/>
          </p:nvSpPr>
          <p:spPr>
            <a:xfrm>
              <a:off x="4626000" y="3240360"/>
              <a:ext cx="2879640" cy="539280"/>
            </a:xfrm>
            <a:prstGeom prst="rect">
              <a:avLst/>
            </a:prstGeom>
            <a:solidFill>
              <a:srgbClr val="E78A67"/>
            </a:solidFill>
            <a:ln w="36000">
              <a:solidFill>
                <a:srgbClr val="E78A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lang="pt-BR" sz="1800" b="0" u="none" strike="noStrike">
                  <a:solidFill>
                    <a:schemeClr val="lt1"/>
                  </a:solidFill>
                  <a:effectLst/>
                  <a:uFillTx/>
                  <a:latin typeface="Segoe UI"/>
                </a:rPr>
                <a:t>18% Clientes</a:t>
              </a:r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2" name=""/>
          <p:cNvGrpSpPr/>
          <p:nvPr/>
        </p:nvGrpSpPr>
        <p:grpSpPr>
          <a:xfrm>
            <a:off x="8280720" y="1381680"/>
            <a:ext cx="3239640" cy="2638440"/>
            <a:chOff x="8280720" y="1381680"/>
            <a:chExt cx="3239640" cy="2638440"/>
          </a:xfrm>
        </p:grpSpPr>
        <p:sp>
          <p:nvSpPr>
            <p:cNvPr id="163" name=""/>
            <p:cNvSpPr/>
            <p:nvPr/>
          </p:nvSpPr>
          <p:spPr>
            <a:xfrm>
              <a:off x="8280720" y="1381680"/>
              <a:ext cx="3236040" cy="2638440"/>
            </a:xfrm>
            <a:prstGeom prst="rect">
              <a:avLst/>
            </a:prstGeom>
            <a:solidFill>
              <a:srgbClr val="3D9072"/>
            </a:solidFill>
            <a:ln w="36000">
              <a:solidFill>
                <a:srgbClr val="3D9072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lang="pt-BR" sz="2400" b="0" u="none" strike="noStrike">
                  <a:solidFill>
                    <a:schemeClr val="lt1"/>
                  </a:solidFill>
                  <a:effectLst/>
                  <a:uFillTx/>
                  <a:latin typeface="Segoe UI"/>
                </a:rPr>
                <a:t>Promotores</a:t>
              </a:r>
              <a:endParaRPr lang="pt-BR" sz="2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4" name="Shape 52"/>
            <p:cNvSpPr/>
            <p:nvPr/>
          </p:nvSpPr>
          <p:spPr>
            <a:xfrm>
              <a:off x="8280720" y="1904040"/>
              <a:ext cx="3239640" cy="211608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algn="bl" blurRad="101520" dir="8100000" dist="37674" kx="0" ky="0" rotWithShape="0" sx="100000" sy="100000">
                <a:srgbClr val="000000">
                  <a:alpha val="1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b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Segoe UI"/>
              </a:endParaRPr>
            </a:p>
          </p:txBody>
        </p:sp>
        <p:sp>
          <p:nvSpPr>
            <p:cNvPr id="165" name=""/>
            <p:cNvSpPr/>
            <p:nvPr/>
          </p:nvSpPr>
          <p:spPr>
            <a:xfrm>
              <a:off x="8460000" y="1980360"/>
              <a:ext cx="2879640" cy="899280"/>
            </a:xfrm>
            <a:prstGeom prst="rect">
              <a:avLst/>
            </a:prstGeom>
            <a:solidFill>
              <a:srgbClr val="3D9072"/>
            </a:solidFill>
            <a:ln w="36000">
              <a:solidFill>
                <a:srgbClr val="3D9072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lang="pt-BR" sz="2400" b="0" u="none" strike="noStrike">
                  <a:solidFill>
                    <a:schemeClr val="lt1"/>
                  </a:solidFill>
                  <a:effectLst/>
                  <a:uFillTx/>
                  <a:latin typeface="Segoe UI"/>
                </a:rPr>
                <a:t>NPS</a:t>
              </a:r>
              <a:endParaRPr lang="pt-BR" sz="2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  <a:p>
              <a:pPr algn="ctr" defTabSz="914400">
                <a:lnSpc>
                  <a:spcPct val="100000"/>
                </a:lnSpc>
              </a:pPr>
              <a:r>
                <a:rPr lang="pt-BR" sz="2400" b="0" u="none" strike="noStrike">
                  <a:solidFill>
                    <a:schemeClr val="lt1"/>
                  </a:solidFill>
                  <a:effectLst/>
                  <a:uFillTx/>
                  <a:latin typeface="Segoe UI"/>
                </a:rPr>
                <a:t>9 – 10</a:t>
              </a:r>
              <a:endParaRPr lang="pt-BR" sz="2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6" name=""/>
            <p:cNvSpPr/>
            <p:nvPr/>
          </p:nvSpPr>
          <p:spPr>
            <a:xfrm>
              <a:off x="8460000" y="3240360"/>
              <a:ext cx="2879640" cy="539280"/>
            </a:xfrm>
            <a:prstGeom prst="rect">
              <a:avLst/>
            </a:prstGeom>
            <a:solidFill>
              <a:srgbClr val="3D9072"/>
            </a:solidFill>
            <a:ln w="36000">
              <a:solidFill>
                <a:srgbClr val="3D9072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lang="pt-BR" sz="1800" b="0" u="none" strike="noStrike">
                  <a:solidFill>
                    <a:schemeClr val="lt1"/>
                  </a:solidFill>
                  <a:effectLst/>
                  <a:uFillTx/>
                  <a:latin typeface="Segoe UI"/>
                </a:rPr>
                <a:t>8% Clientes</a:t>
              </a:r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7" name=""/>
          <p:cNvGrpSpPr/>
          <p:nvPr/>
        </p:nvGrpSpPr>
        <p:grpSpPr>
          <a:xfrm>
            <a:off x="606600" y="4320000"/>
            <a:ext cx="10945800" cy="1979280"/>
            <a:chOff x="606600" y="4320000"/>
            <a:chExt cx="10945800" cy="1979280"/>
          </a:xfrm>
        </p:grpSpPr>
        <p:sp>
          <p:nvSpPr>
            <p:cNvPr id="168" name=""/>
            <p:cNvSpPr/>
            <p:nvPr/>
          </p:nvSpPr>
          <p:spPr>
            <a:xfrm>
              <a:off x="606600" y="4320000"/>
              <a:ext cx="10933200" cy="1979280"/>
            </a:xfrm>
            <a:prstGeom prst="rect">
              <a:avLst/>
            </a:prstGeom>
            <a:solidFill>
              <a:srgbClr val="107371"/>
            </a:solidFill>
            <a:ln w="36000">
              <a:solidFill>
                <a:srgbClr val="10737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9" name="Shape 52"/>
            <p:cNvSpPr/>
            <p:nvPr/>
          </p:nvSpPr>
          <p:spPr>
            <a:xfrm>
              <a:off x="606600" y="4508640"/>
              <a:ext cx="10945800" cy="179064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algn="bl" blurRad="101520" dir="8100000" dist="37674" kx="0" ky="0" rotWithShape="0" sx="100000" sy="100000">
                <a:srgbClr val="000000">
                  <a:alpha val="1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b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Segoe UI"/>
              </a:endParaRPr>
            </a:p>
          </p:txBody>
        </p:sp>
      </p:grpSp>
      <p:sp>
        <p:nvSpPr>
          <p:cNvPr id="170" name=""/>
          <p:cNvSpPr/>
          <p:nvPr/>
        </p:nvSpPr>
        <p:spPr>
          <a:xfrm>
            <a:off x="617760" y="4500000"/>
            <a:ext cx="11082240" cy="39456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Por que foi escolhida?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606600" y="5148000"/>
            <a:ext cx="10576080" cy="60876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7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O nps_score (Nota de satisfação do cliente) é a medida direta da percepção do cliente após a experiência completa de compra. É coletada de forma padronizada e representa o julgamento final da jornada.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Dieizon A. Ferreira ​  RM: 371888​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"/>
          <p:cNvSpPr/>
          <p:nvPr/>
        </p:nvSpPr>
        <p:spPr>
          <a:xfrm>
            <a:off x="540000" y="360000"/>
            <a:ext cx="9720000" cy="63828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600" b="1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O que mais gera detratores?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"/>
          <p:cNvSpPr/>
          <p:nvPr/>
        </p:nvSpPr>
        <p:spPr>
          <a:xfrm>
            <a:off x="540000" y="1260000"/>
            <a:ext cx="2883960" cy="561240"/>
          </a:xfrm>
          <a:prstGeom prst="rect">
            <a:avLst/>
          </a:prstGeom>
          <a:solidFill>
            <a:srgbClr val="10737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3"/>
          <p:cNvSpPr/>
          <p:nvPr/>
        </p:nvSpPr>
        <p:spPr>
          <a:xfrm>
            <a:off x="540000" y="1260000"/>
            <a:ext cx="288396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Calibri"/>
              </a:rPr>
              <a:t>Variável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4"/>
          <p:cNvSpPr/>
          <p:nvPr/>
        </p:nvSpPr>
        <p:spPr>
          <a:xfrm>
            <a:off x="3540240" y="1260000"/>
            <a:ext cx="1729440" cy="561240"/>
          </a:xfrm>
          <a:prstGeom prst="rect">
            <a:avLst/>
          </a:prstGeom>
          <a:solidFill>
            <a:srgbClr val="10737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5"/>
          <p:cNvSpPr/>
          <p:nvPr/>
        </p:nvSpPr>
        <p:spPr>
          <a:xfrm>
            <a:off x="3540240" y="1260000"/>
            <a:ext cx="172944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Calibri"/>
              </a:rPr>
              <a:t>Detrator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6"/>
          <p:cNvSpPr/>
          <p:nvPr/>
        </p:nvSpPr>
        <p:spPr>
          <a:xfrm>
            <a:off x="5386680" y="1260000"/>
            <a:ext cx="1672200" cy="561240"/>
          </a:xfrm>
          <a:prstGeom prst="rect">
            <a:avLst/>
          </a:prstGeom>
          <a:solidFill>
            <a:srgbClr val="10737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7"/>
          <p:cNvSpPr/>
          <p:nvPr/>
        </p:nvSpPr>
        <p:spPr>
          <a:xfrm>
            <a:off x="5386680" y="1260000"/>
            <a:ext cx="167220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Calibri"/>
              </a:rPr>
              <a:t>Neutro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8"/>
          <p:cNvSpPr/>
          <p:nvPr/>
        </p:nvSpPr>
        <p:spPr>
          <a:xfrm>
            <a:off x="7175160" y="1260000"/>
            <a:ext cx="1672200" cy="561240"/>
          </a:xfrm>
          <a:prstGeom prst="rect">
            <a:avLst/>
          </a:prstGeom>
          <a:solidFill>
            <a:srgbClr val="10737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9"/>
          <p:cNvSpPr/>
          <p:nvPr/>
        </p:nvSpPr>
        <p:spPr>
          <a:xfrm>
            <a:off x="7175160" y="1260000"/>
            <a:ext cx="167220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Calibri"/>
              </a:rPr>
              <a:t>Promotor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0"/>
          <p:cNvSpPr/>
          <p:nvPr/>
        </p:nvSpPr>
        <p:spPr>
          <a:xfrm>
            <a:off x="8964360" y="1260000"/>
            <a:ext cx="2306880" cy="561240"/>
          </a:xfrm>
          <a:prstGeom prst="rect">
            <a:avLst/>
          </a:prstGeom>
          <a:solidFill>
            <a:srgbClr val="10737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1"/>
          <p:cNvSpPr/>
          <p:nvPr/>
        </p:nvSpPr>
        <p:spPr>
          <a:xfrm>
            <a:off x="8964360" y="1260000"/>
            <a:ext cx="23068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Calibri"/>
              </a:rPr>
              <a:t>Detrator vs Promotor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12"/>
          <p:cNvSpPr/>
          <p:nvPr/>
        </p:nvSpPr>
        <p:spPr>
          <a:xfrm>
            <a:off x="540000" y="1822680"/>
            <a:ext cx="2883960" cy="666720"/>
          </a:xfrm>
          <a:prstGeom prst="rect">
            <a:avLst/>
          </a:prstGeom>
          <a:solidFill>
            <a:srgbClr val="F4F6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3"/>
          <p:cNvSpPr/>
          <p:nvPr/>
        </p:nvSpPr>
        <p:spPr>
          <a:xfrm>
            <a:off x="540000" y="1822680"/>
            <a:ext cx="2883960" cy="66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Dias de atraso na entrega (média)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4"/>
          <p:cNvSpPr/>
          <p:nvPr/>
        </p:nvSpPr>
        <p:spPr>
          <a:xfrm>
            <a:off x="3540240" y="1822680"/>
            <a:ext cx="1729440" cy="666720"/>
          </a:xfrm>
          <a:prstGeom prst="rect">
            <a:avLst/>
          </a:prstGeom>
          <a:solidFill>
            <a:srgbClr val="F4F6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5"/>
          <p:cNvSpPr/>
          <p:nvPr/>
        </p:nvSpPr>
        <p:spPr>
          <a:xfrm>
            <a:off x="3540240" y="1822680"/>
            <a:ext cx="1729440" cy="66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DC2626"/>
                </a:solidFill>
                <a:effectLst/>
                <a:uFillTx/>
                <a:latin typeface="Segoe UI"/>
                <a:ea typeface="Calibri"/>
              </a:rPr>
              <a:t>2.53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16"/>
          <p:cNvSpPr/>
          <p:nvPr/>
        </p:nvSpPr>
        <p:spPr>
          <a:xfrm>
            <a:off x="5386680" y="1822680"/>
            <a:ext cx="1672200" cy="666720"/>
          </a:xfrm>
          <a:prstGeom prst="rect">
            <a:avLst/>
          </a:prstGeom>
          <a:solidFill>
            <a:srgbClr val="F4F6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7"/>
          <p:cNvSpPr/>
          <p:nvPr/>
        </p:nvSpPr>
        <p:spPr>
          <a:xfrm>
            <a:off x="5386680" y="1822680"/>
            <a:ext cx="1672200" cy="66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D97706"/>
                </a:solidFill>
                <a:effectLst/>
                <a:uFillTx/>
                <a:latin typeface="Segoe UI"/>
                <a:ea typeface="Calibri"/>
              </a:rPr>
              <a:t>1.40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18"/>
          <p:cNvSpPr/>
          <p:nvPr/>
        </p:nvSpPr>
        <p:spPr>
          <a:xfrm>
            <a:off x="7175160" y="1822680"/>
            <a:ext cx="1672200" cy="666720"/>
          </a:xfrm>
          <a:prstGeom prst="rect">
            <a:avLst/>
          </a:prstGeom>
          <a:solidFill>
            <a:srgbClr val="F4F6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9"/>
          <p:cNvSpPr/>
          <p:nvPr/>
        </p:nvSpPr>
        <p:spPr>
          <a:xfrm>
            <a:off x="7175160" y="1822680"/>
            <a:ext cx="1672200" cy="66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16A34A"/>
                </a:solidFill>
                <a:effectLst/>
                <a:uFillTx/>
                <a:latin typeface="Segoe UI"/>
                <a:ea typeface="Calibri"/>
              </a:rPr>
              <a:t>0.76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0"/>
          <p:cNvSpPr/>
          <p:nvPr/>
        </p:nvSpPr>
        <p:spPr>
          <a:xfrm>
            <a:off x="8964360" y="1822680"/>
            <a:ext cx="2306880" cy="666720"/>
          </a:xfrm>
          <a:prstGeom prst="rect">
            <a:avLst/>
          </a:prstGeom>
          <a:solidFill>
            <a:srgbClr val="F4F6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1"/>
          <p:cNvSpPr/>
          <p:nvPr/>
        </p:nvSpPr>
        <p:spPr>
          <a:xfrm>
            <a:off x="8964360" y="1822680"/>
            <a:ext cx="2306880" cy="66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DC2626"/>
                </a:solidFill>
                <a:effectLst/>
                <a:uFillTx/>
                <a:latin typeface="Segoe UI"/>
                <a:ea typeface="Calibri"/>
              </a:rPr>
              <a:t>+233%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22"/>
          <p:cNvSpPr/>
          <p:nvPr/>
        </p:nvSpPr>
        <p:spPr>
          <a:xfrm>
            <a:off x="540000" y="2549160"/>
            <a:ext cx="2883960" cy="6674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23"/>
          <p:cNvSpPr/>
          <p:nvPr/>
        </p:nvSpPr>
        <p:spPr>
          <a:xfrm>
            <a:off x="540000" y="2549160"/>
            <a:ext cx="2883960" cy="66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Reclamações (média)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4"/>
          <p:cNvSpPr/>
          <p:nvPr/>
        </p:nvSpPr>
        <p:spPr>
          <a:xfrm>
            <a:off x="3540240" y="2549160"/>
            <a:ext cx="1729440" cy="6674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25"/>
          <p:cNvSpPr/>
          <p:nvPr/>
        </p:nvSpPr>
        <p:spPr>
          <a:xfrm>
            <a:off x="3540240" y="2549160"/>
            <a:ext cx="1729440" cy="66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DC2626"/>
                </a:solidFill>
                <a:effectLst/>
                <a:uFillTx/>
                <a:latin typeface="Segoe UI"/>
                <a:ea typeface="Calibri"/>
              </a:rPr>
              <a:t>4.62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26"/>
          <p:cNvSpPr/>
          <p:nvPr/>
        </p:nvSpPr>
        <p:spPr>
          <a:xfrm>
            <a:off x="5386680" y="2549160"/>
            <a:ext cx="1672200" cy="6674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27"/>
          <p:cNvSpPr/>
          <p:nvPr/>
        </p:nvSpPr>
        <p:spPr>
          <a:xfrm>
            <a:off x="5386680" y="2549160"/>
            <a:ext cx="1672200" cy="66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D97706"/>
                </a:solidFill>
                <a:effectLst/>
                <a:uFillTx/>
                <a:latin typeface="Segoe UI"/>
                <a:ea typeface="Calibri"/>
              </a:rPr>
              <a:t>2.99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28"/>
          <p:cNvSpPr/>
          <p:nvPr/>
        </p:nvSpPr>
        <p:spPr>
          <a:xfrm>
            <a:off x="7175160" y="2549160"/>
            <a:ext cx="1672200" cy="6674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29"/>
          <p:cNvSpPr/>
          <p:nvPr/>
        </p:nvSpPr>
        <p:spPr>
          <a:xfrm>
            <a:off x="7175160" y="2549160"/>
            <a:ext cx="1672200" cy="66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16A34A"/>
                </a:solidFill>
                <a:effectLst/>
                <a:uFillTx/>
                <a:latin typeface="Segoe UI"/>
                <a:ea typeface="Calibri"/>
              </a:rPr>
              <a:t>2.39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30"/>
          <p:cNvSpPr/>
          <p:nvPr/>
        </p:nvSpPr>
        <p:spPr>
          <a:xfrm>
            <a:off x="8964360" y="2549160"/>
            <a:ext cx="2306880" cy="6674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31"/>
          <p:cNvSpPr/>
          <p:nvPr/>
        </p:nvSpPr>
        <p:spPr>
          <a:xfrm>
            <a:off x="8964360" y="2549160"/>
            <a:ext cx="2306880" cy="66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DC2626"/>
                </a:solidFill>
                <a:effectLst/>
                <a:uFillTx/>
                <a:latin typeface="Segoe UI"/>
                <a:ea typeface="Calibri"/>
              </a:rPr>
              <a:t>+93%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32"/>
          <p:cNvSpPr/>
          <p:nvPr/>
        </p:nvSpPr>
        <p:spPr>
          <a:xfrm>
            <a:off x="540000" y="3276360"/>
            <a:ext cx="2883960" cy="667080"/>
          </a:xfrm>
          <a:prstGeom prst="rect">
            <a:avLst/>
          </a:prstGeom>
          <a:solidFill>
            <a:srgbClr val="F4F6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33"/>
          <p:cNvSpPr/>
          <p:nvPr/>
        </p:nvSpPr>
        <p:spPr>
          <a:xfrm>
            <a:off x="540000" y="3276360"/>
            <a:ext cx="288396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Contatos com suporte (média)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34"/>
          <p:cNvSpPr/>
          <p:nvPr/>
        </p:nvSpPr>
        <p:spPr>
          <a:xfrm>
            <a:off x="3540240" y="3276360"/>
            <a:ext cx="1729440" cy="667080"/>
          </a:xfrm>
          <a:prstGeom prst="rect">
            <a:avLst/>
          </a:prstGeom>
          <a:solidFill>
            <a:srgbClr val="F4F6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35"/>
          <p:cNvSpPr/>
          <p:nvPr/>
        </p:nvSpPr>
        <p:spPr>
          <a:xfrm>
            <a:off x="3540240" y="3276360"/>
            <a:ext cx="172944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DC2626"/>
                </a:solidFill>
                <a:effectLst/>
                <a:uFillTx/>
                <a:latin typeface="Segoe UI"/>
                <a:ea typeface="Calibri"/>
              </a:rPr>
              <a:t>1.69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36"/>
          <p:cNvSpPr/>
          <p:nvPr/>
        </p:nvSpPr>
        <p:spPr>
          <a:xfrm>
            <a:off x="5386680" y="3276360"/>
            <a:ext cx="1672200" cy="667080"/>
          </a:xfrm>
          <a:prstGeom prst="rect">
            <a:avLst/>
          </a:prstGeom>
          <a:solidFill>
            <a:srgbClr val="F4F6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37"/>
          <p:cNvSpPr/>
          <p:nvPr/>
        </p:nvSpPr>
        <p:spPr>
          <a:xfrm>
            <a:off x="5386680" y="3276360"/>
            <a:ext cx="167220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D97706"/>
                </a:solidFill>
                <a:effectLst/>
                <a:uFillTx/>
                <a:latin typeface="Segoe UI"/>
                <a:ea typeface="Calibri"/>
              </a:rPr>
              <a:t>1.13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38"/>
          <p:cNvSpPr/>
          <p:nvPr/>
        </p:nvSpPr>
        <p:spPr>
          <a:xfrm>
            <a:off x="7175160" y="3276360"/>
            <a:ext cx="1672200" cy="667080"/>
          </a:xfrm>
          <a:prstGeom prst="rect">
            <a:avLst/>
          </a:prstGeom>
          <a:solidFill>
            <a:srgbClr val="F4F6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39"/>
          <p:cNvSpPr/>
          <p:nvPr/>
        </p:nvSpPr>
        <p:spPr>
          <a:xfrm>
            <a:off x="7175160" y="3276360"/>
            <a:ext cx="167220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16A34A"/>
                </a:solidFill>
                <a:effectLst/>
                <a:uFillTx/>
                <a:latin typeface="Segoe UI"/>
                <a:ea typeface="Calibri"/>
              </a:rPr>
              <a:t>0.78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40"/>
          <p:cNvSpPr/>
          <p:nvPr/>
        </p:nvSpPr>
        <p:spPr>
          <a:xfrm>
            <a:off x="8964360" y="3276360"/>
            <a:ext cx="2306880" cy="667080"/>
          </a:xfrm>
          <a:prstGeom prst="rect">
            <a:avLst/>
          </a:prstGeom>
          <a:solidFill>
            <a:srgbClr val="F4F6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41"/>
          <p:cNvSpPr/>
          <p:nvPr/>
        </p:nvSpPr>
        <p:spPr>
          <a:xfrm>
            <a:off x="8964360" y="3276360"/>
            <a:ext cx="230688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DC2626"/>
                </a:solidFill>
                <a:effectLst/>
                <a:uFillTx/>
                <a:latin typeface="Segoe UI"/>
                <a:ea typeface="Calibri"/>
              </a:rPr>
              <a:t>+117%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42"/>
          <p:cNvSpPr/>
          <p:nvPr/>
        </p:nvSpPr>
        <p:spPr>
          <a:xfrm>
            <a:off x="540000" y="4003200"/>
            <a:ext cx="2883960" cy="6670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43"/>
          <p:cNvSpPr/>
          <p:nvPr/>
        </p:nvSpPr>
        <p:spPr>
          <a:xfrm>
            <a:off x="540000" y="4003200"/>
            <a:ext cx="288396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Tempo de resolução (dias)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44"/>
          <p:cNvSpPr/>
          <p:nvPr/>
        </p:nvSpPr>
        <p:spPr>
          <a:xfrm>
            <a:off x="3540240" y="4003200"/>
            <a:ext cx="1729440" cy="6670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45"/>
          <p:cNvSpPr/>
          <p:nvPr/>
        </p:nvSpPr>
        <p:spPr>
          <a:xfrm>
            <a:off x="3540240" y="4003200"/>
            <a:ext cx="172944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DC2626"/>
                </a:solidFill>
                <a:effectLst/>
                <a:uFillTx/>
                <a:latin typeface="Segoe UI"/>
                <a:ea typeface="Calibri"/>
              </a:rPr>
              <a:t>5.79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46"/>
          <p:cNvSpPr/>
          <p:nvPr/>
        </p:nvSpPr>
        <p:spPr>
          <a:xfrm>
            <a:off x="5386680" y="4003200"/>
            <a:ext cx="1672200" cy="6670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47"/>
          <p:cNvSpPr/>
          <p:nvPr/>
        </p:nvSpPr>
        <p:spPr>
          <a:xfrm>
            <a:off x="5386680" y="4003200"/>
            <a:ext cx="167220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D97706"/>
                </a:solidFill>
                <a:effectLst/>
                <a:uFillTx/>
                <a:latin typeface="Segoe UI"/>
                <a:ea typeface="Calibri"/>
              </a:rPr>
              <a:t>4.83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48"/>
          <p:cNvSpPr/>
          <p:nvPr/>
        </p:nvSpPr>
        <p:spPr>
          <a:xfrm>
            <a:off x="7175160" y="4003200"/>
            <a:ext cx="1672200" cy="6670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49"/>
          <p:cNvSpPr/>
          <p:nvPr/>
        </p:nvSpPr>
        <p:spPr>
          <a:xfrm>
            <a:off x="7175160" y="4003200"/>
            <a:ext cx="167220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16A34A"/>
                </a:solidFill>
                <a:effectLst/>
                <a:uFillTx/>
                <a:latin typeface="Segoe UI"/>
                <a:ea typeface="Calibri"/>
              </a:rPr>
              <a:t>4.10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50"/>
          <p:cNvSpPr/>
          <p:nvPr/>
        </p:nvSpPr>
        <p:spPr>
          <a:xfrm>
            <a:off x="8964360" y="4003200"/>
            <a:ext cx="2306880" cy="6670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51"/>
          <p:cNvSpPr/>
          <p:nvPr/>
        </p:nvSpPr>
        <p:spPr>
          <a:xfrm>
            <a:off x="8964360" y="4003200"/>
            <a:ext cx="230688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DC2626"/>
                </a:solidFill>
                <a:effectLst/>
                <a:uFillTx/>
                <a:latin typeface="Segoe UI"/>
                <a:ea typeface="Calibri"/>
              </a:rPr>
              <a:t>+41%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23" name=""/>
          <p:cNvGrpSpPr/>
          <p:nvPr/>
        </p:nvGrpSpPr>
        <p:grpSpPr>
          <a:xfrm>
            <a:off x="572400" y="4746240"/>
            <a:ext cx="3461040" cy="1554120"/>
            <a:chOff x="572400" y="4746240"/>
            <a:chExt cx="3461040" cy="1554120"/>
          </a:xfrm>
        </p:grpSpPr>
        <p:sp>
          <p:nvSpPr>
            <p:cNvPr id="224" name=""/>
            <p:cNvSpPr/>
            <p:nvPr/>
          </p:nvSpPr>
          <p:spPr>
            <a:xfrm>
              <a:off x="572400" y="4746240"/>
              <a:ext cx="3457080" cy="1554120"/>
            </a:xfrm>
            <a:prstGeom prst="rect">
              <a:avLst/>
            </a:prstGeom>
            <a:solidFill>
              <a:srgbClr val="A74B40"/>
            </a:solidFill>
            <a:ln w="36000">
              <a:solidFill>
                <a:srgbClr val="A74B4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5" name="Shape 52"/>
            <p:cNvSpPr/>
            <p:nvPr/>
          </p:nvSpPr>
          <p:spPr>
            <a:xfrm>
              <a:off x="572400" y="4894560"/>
              <a:ext cx="3461040" cy="14058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algn="bl" blurRad="101520" dir="8100000" dist="37674" kx="0" ky="0" rotWithShape="0" sx="100000" sy="100000">
                <a:srgbClr val="000000">
                  <a:alpha val="1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400" b="0" u="none" strike="noStrike">
                  <a:solidFill>
                    <a:srgbClr val="000000"/>
                  </a:solidFill>
                  <a:effectLst/>
                  <a:uFillTx/>
                  <a:latin typeface="Segoe UI"/>
                  <a:ea typeface="Calibri"/>
                </a:rPr>
                <a:t>🚚  Atraso é o fator mais crítico: detratores tem 233% mais dias de atraso que promotores.</a:t>
              </a:r>
              <a:endPara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26" name=""/>
          <p:cNvGrpSpPr/>
          <p:nvPr/>
        </p:nvGrpSpPr>
        <p:grpSpPr>
          <a:xfrm>
            <a:off x="4140360" y="4745160"/>
            <a:ext cx="3461040" cy="1554120"/>
            <a:chOff x="4140360" y="4745160"/>
            <a:chExt cx="3461040" cy="1554120"/>
          </a:xfrm>
        </p:grpSpPr>
        <p:sp>
          <p:nvSpPr>
            <p:cNvPr id="227" name=""/>
            <p:cNvSpPr/>
            <p:nvPr/>
          </p:nvSpPr>
          <p:spPr>
            <a:xfrm>
              <a:off x="4140360" y="4745160"/>
              <a:ext cx="3457080" cy="1554120"/>
            </a:xfrm>
            <a:prstGeom prst="rect">
              <a:avLst/>
            </a:prstGeom>
            <a:solidFill>
              <a:srgbClr val="E78A67"/>
            </a:solidFill>
            <a:ln w="36000">
              <a:solidFill>
                <a:srgbClr val="E78A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8" name="Shape 52"/>
            <p:cNvSpPr/>
            <p:nvPr/>
          </p:nvSpPr>
          <p:spPr>
            <a:xfrm>
              <a:off x="4140360" y="4893480"/>
              <a:ext cx="3461040" cy="14058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algn="bl" blurRad="101520" dir="8100000" dist="37674" kx="0" ky="0" rotWithShape="0" sx="100000" sy="100000">
                <a:srgbClr val="000000">
                  <a:alpha val="1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400" b="0" u="none" strike="noStrike">
                  <a:solidFill>
                    <a:srgbClr val="000000"/>
                  </a:solidFill>
                  <a:effectLst/>
                  <a:uFillTx/>
                  <a:latin typeface="Segoe UI"/>
                  <a:ea typeface="Calibri"/>
                </a:rPr>
                <a:t>📣  Reclamações quase dobram entre promotores e detratores.</a:t>
              </a:r>
              <a:endPara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29" name=""/>
          <p:cNvGrpSpPr/>
          <p:nvPr/>
        </p:nvGrpSpPr>
        <p:grpSpPr>
          <a:xfrm>
            <a:off x="7740360" y="4745160"/>
            <a:ext cx="3461040" cy="1554120"/>
            <a:chOff x="7740360" y="4745160"/>
            <a:chExt cx="3461040" cy="1554120"/>
          </a:xfrm>
        </p:grpSpPr>
        <p:sp>
          <p:nvSpPr>
            <p:cNvPr id="230" name=""/>
            <p:cNvSpPr/>
            <p:nvPr/>
          </p:nvSpPr>
          <p:spPr>
            <a:xfrm>
              <a:off x="7740360" y="4745160"/>
              <a:ext cx="3457080" cy="1554120"/>
            </a:xfrm>
            <a:prstGeom prst="rect">
              <a:avLst/>
            </a:prstGeom>
            <a:solidFill>
              <a:srgbClr val="3D9072"/>
            </a:solidFill>
            <a:ln w="36000">
              <a:solidFill>
                <a:srgbClr val="3D9072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1" name="Shape 52"/>
            <p:cNvSpPr/>
            <p:nvPr/>
          </p:nvSpPr>
          <p:spPr>
            <a:xfrm>
              <a:off x="7740360" y="4893480"/>
              <a:ext cx="3461040" cy="14058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algn="bl" blurRad="101520" dir="8100000" dist="37674" kx="0" ky="0" rotWithShape="0" sx="100000" sy="100000">
                <a:srgbClr val="000000">
                  <a:alpha val="1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400" b="0" u="none" strike="noStrike">
                  <a:solidFill>
                    <a:srgbClr val="000000"/>
                  </a:solidFill>
                  <a:effectLst/>
                  <a:uFillTx/>
                  <a:latin typeface="Segoe UI"/>
                  <a:ea typeface="Calibri"/>
                </a:rPr>
                <a:t>🎧  Quem aciona o suporte mais de 1x tem NPS 117% pior, loop de contato é sintoma de não resolução.</a:t>
              </a:r>
              <a:endPara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Dieizon A. Ferreira ​  RM: 371888​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"/>
          <p:cNvSpPr/>
          <p:nvPr/>
        </p:nvSpPr>
        <p:spPr>
          <a:xfrm>
            <a:off x="8721360" y="1506600"/>
            <a:ext cx="3030480" cy="4792680"/>
          </a:xfrm>
          <a:prstGeom prst="rect">
            <a:avLst/>
          </a:prstGeom>
          <a:solidFill>
            <a:srgbClr val="FFFFFF"/>
          </a:solidFill>
          <a:ln w="36000">
            <a:solidFill>
              <a:srgbClr val="1073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"/>
          <p:cNvSpPr/>
          <p:nvPr/>
        </p:nvSpPr>
        <p:spPr>
          <a:xfrm>
            <a:off x="459000" y="1497960"/>
            <a:ext cx="8019360" cy="4788000"/>
          </a:xfrm>
          <a:prstGeom prst="rect">
            <a:avLst/>
          </a:prstGeom>
          <a:solidFill>
            <a:srgbClr val="FFFFFF"/>
          </a:solidFill>
          <a:ln w="36000">
            <a:solidFill>
              <a:srgbClr val="1073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>
            <a:off x="396000" y="360360"/>
            <a:ext cx="9720000" cy="63828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600" b="1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Ponto de ruptura na experiência do cliente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5" name=""/>
          <p:cNvGraphicFramePr/>
          <p:nvPr/>
        </p:nvGraphicFramePr>
        <p:xfrm>
          <a:off x="360000" y="1332000"/>
          <a:ext cx="8262360" cy="502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36" name="Text 2"/>
          <p:cNvSpPr/>
          <p:nvPr/>
        </p:nvSpPr>
        <p:spPr>
          <a:xfrm>
            <a:off x="8691840" y="1620000"/>
            <a:ext cx="28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⚡ Ruptura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3"/>
          <p:cNvSpPr/>
          <p:nvPr/>
        </p:nvSpPr>
        <p:spPr>
          <a:xfrm>
            <a:off x="8775000" y="2340000"/>
            <a:ext cx="2925360" cy="35280"/>
          </a:xfrm>
          <a:prstGeom prst="rect">
            <a:avLst/>
          </a:prstGeom>
          <a:solidFill>
            <a:srgbClr val="10737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640" rIns="90000" bIns="-864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4"/>
          <p:cNvSpPr/>
          <p:nvPr/>
        </p:nvSpPr>
        <p:spPr>
          <a:xfrm>
            <a:off x="8691840" y="2625120"/>
            <a:ext cx="3008520" cy="97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4400" b="1" u="none" strike="noStrike">
                <a:solidFill>
                  <a:srgbClr val="F10D0C"/>
                </a:solidFill>
                <a:effectLst/>
                <a:uFillTx/>
                <a:latin typeface="Calibri"/>
                <a:ea typeface="Calibri"/>
              </a:rPr>
              <a:t>1 DIA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0"/>
          <p:cNvSpPr/>
          <p:nvPr/>
        </p:nvSpPr>
        <p:spPr>
          <a:xfrm>
            <a:off x="8820720" y="3464280"/>
            <a:ext cx="2931120" cy="10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de atraso já coloca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a maioria dos clientes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como detratores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5"/>
          <p:cNvSpPr/>
          <p:nvPr/>
        </p:nvSpPr>
        <p:spPr>
          <a:xfrm>
            <a:off x="8784720" y="4644000"/>
            <a:ext cx="2925360" cy="35280"/>
          </a:xfrm>
          <a:prstGeom prst="rect">
            <a:avLst/>
          </a:prstGeom>
          <a:solidFill>
            <a:srgbClr val="10737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640" rIns="90000" bIns="-864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6"/>
          <p:cNvSpPr/>
          <p:nvPr/>
        </p:nvSpPr>
        <p:spPr>
          <a:xfrm>
            <a:off x="8784720" y="4824000"/>
            <a:ext cx="2879640" cy="13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 anchorCtr="1">
            <a:noAutofit/>
          </a:bodyPr>
          <a:p>
            <a:pPr algn="ctr">
              <a:lnSpc>
                <a:spcPct val="100000"/>
              </a:lnSpc>
            </a:pP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Nenhum dia -&gt; </a:t>
            </a:r>
            <a:r>
              <a:rPr lang="pt-BR" sz="1600" b="1" u="none" strike="noStrike">
                <a:solidFill>
                  <a:srgbClr val="107371"/>
                </a:solidFill>
                <a:effectLst/>
                <a:uFillTx/>
                <a:latin typeface="Segoe UI"/>
                <a:ea typeface="Calibri"/>
              </a:rPr>
              <a:t>37%</a:t>
            </a: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 detratores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1 dia  -&gt; </a:t>
            </a:r>
            <a:r>
              <a:rPr lang="pt-BR" sz="1600" b="1" u="none" strike="noStrike">
                <a:solidFill>
                  <a:srgbClr val="F10D0C"/>
                </a:solidFill>
                <a:effectLst/>
                <a:uFillTx/>
                <a:latin typeface="Segoe UI"/>
                <a:ea typeface="Calibri"/>
              </a:rPr>
              <a:t>60%</a:t>
            </a: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 detratores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Dieizon A. Ferreira ​  RM: 371888​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540000" y="360000"/>
            <a:ext cx="10980360" cy="60768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400" b="1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Que tipo de cliente tem nps mais alto ou mais baixo?</a:t>
            </a:r>
            <a:endParaRPr lang="pt-B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46"/>
          <p:cNvSpPr/>
          <p:nvPr/>
        </p:nvSpPr>
        <p:spPr>
          <a:xfrm>
            <a:off x="582120" y="1185120"/>
            <a:ext cx="1064016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i="1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Perfil de quem NÃO recomprou vs. quem recomprou em 30 dias (correlação +0.57 com NPS)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1"/>
          <p:cNvSpPr/>
          <p:nvPr/>
        </p:nvSpPr>
        <p:spPr>
          <a:xfrm>
            <a:off x="540000" y="1635120"/>
            <a:ext cx="3700080" cy="547560"/>
          </a:xfrm>
          <a:prstGeom prst="rect">
            <a:avLst/>
          </a:prstGeom>
          <a:solidFill>
            <a:srgbClr val="10737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54"/>
          <p:cNvSpPr/>
          <p:nvPr/>
        </p:nvSpPr>
        <p:spPr>
          <a:xfrm>
            <a:off x="540000" y="1635120"/>
            <a:ext cx="37000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Calibri"/>
              </a:rPr>
              <a:t>Variável Operacional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49"/>
          <p:cNvSpPr/>
          <p:nvPr/>
        </p:nvSpPr>
        <p:spPr>
          <a:xfrm>
            <a:off x="4298760" y="1635120"/>
            <a:ext cx="2428200" cy="547560"/>
          </a:xfrm>
          <a:prstGeom prst="rect">
            <a:avLst/>
          </a:prstGeom>
          <a:solidFill>
            <a:srgbClr val="10737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55"/>
          <p:cNvSpPr/>
          <p:nvPr/>
        </p:nvSpPr>
        <p:spPr>
          <a:xfrm>
            <a:off x="4298760" y="1635120"/>
            <a:ext cx="24282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Calibri"/>
              </a:rPr>
              <a:t>Não Recomprou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51"/>
          <p:cNvSpPr/>
          <p:nvPr/>
        </p:nvSpPr>
        <p:spPr>
          <a:xfrm>
            <a:off x="6785280" y="1635120"/>
            <a:ext cx="2428200" cy="547560"/>
          </a:xfrm>
          <a:prstGeom prst="rect">
            <a:avLst/>
          </a:prstGeom>
          <a:solidFill>
            <a:srgbClr val="10737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56"/>
          <p:cNvSpPr/>
          <p:nvPr/>
        </p:nvSpPr>
        <p:spPr>
          <a:xfrm>
            <a:off x="6785280" y="1635120"/>
            <a:ext cx="24282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Calibri"/>
              </a:rPr>
              <a:t>Recomprou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53"/>
          <p:cNvSpPr/>
          <p:nvPr/>
        </p:nvSpPr>
        <p:spPr>
          <a:xfrm>
            <a:off x="9272520" y="1635120"/>
            <a:ext cx="2427840" cy="547560"/>
          </a:xfrm>
          <a:prstGeom prst="rect">
            <a:avLst/>
          </a:prstGeom>
          <a:solidFill>
            <a:srgbClr val="10737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57"/>
          <p:cNvSpPr/>
          <p:nvPr/>
        </p:nvSpPr>
        <p:spPr>
          <a:xfrm>
            <a:off x="9272520" y="1635120"/>
            <a:ext cx="24278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Calibri"/>
              </a:rPr>
              <a:t>Diferença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54"/>
          <p:cNvSpPr/>
          <p:nvPr/>
        </p:nvSpPr>
        <p:spPr>
          <a:xfrm>
            <a:off x="540000" y="2183760"/>
            <a:ext cx="3700080" cy="730440"/>
          </a:xfrm>
          <a:prstGeom prst="rect">
            <a:avLst/>
          </a:prstGeom>
          <a:solidFill>
            <a:srgbClr val="F4F6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58"/>
          <p:cNvSpPr/>
          <p:nvPr/>
        </p:nvSpPr>
        <p:spPr>
          <a:xfrm>
            <a:off x="540000" y="2183760"/>
            <a:ext cx="370008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rgbClr val="1E2761"/>
                </a:solidFill>
                <a:effectLst/>
                <a:uFillTx/>
                <a:latin typeface="Segoe UI"/>
                <a:ea typeface="Calibri"/>
              </a:rPr>
              <a:t>Dias de atraso na entrega (média)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55"/>
          <p:cNvSpPr/>
          <p:nvPr/>
        </p:nvSpPr>
        <p:spPr>
          <a:xfrm>
            <a:off x="4298760" y="2183760"/>
            <a:ext cx="2428200" cy="730440"/>
          </a:xfrm>
          <a:prstGeom prst="rect">
            <a:avLst/>
          </a:prstGeom>
          <a:solidFill>
            <a:srgbClr val="F4F6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59"/>
          <p:cNvSpPr/>
          <p:nvPr/>
        </p:nvSpPr>
        <p:spPr>
          <a:xfrm>
            <a:off x="4298760" y="2183760"/>
            <a:ext cx="24282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DC2626"/>
                </a:solidFill>
                <a:effectLst/>
                <a:uFillTx/>
                <a:latin typeface="Segoe UI"/>
                <a:ea typeface="Calibri"/>
              </a:rPr>
              <a:t>2.53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56"/>
          <p:cNvSpPr/>
          <p:nvPr/>
        </p:nvSpPr>
        <p:spPr>
          <a:xfrm>
            <a:off x="6785280" y="2183760"/>
            <a:ext cx="2428200" cy="730440"/>
          </a:xfrm>
          <a:prstGeom prst="rect">
            <a:avLst/>
          </a:prstGeom>
          <a:solidFill>
            <a:srgbClr val="F4F6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60"/>
          <p:cNvSpPr/>
          <p:nvPr/>
        </p:nvSpPr>
        <p:spPr>
          <a:xfrm>
            <a:off x="6785280" y="2183760"/>
            <a:ext cx="24282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16A34A"/>
                </a:solidFill>
                <a:effectLst/>
                <a:uFillTx/>
                <a:latin typeface="Segoe UI"/>
                <a:ea typeface="Calibri"/>
              </a:rPr>
              <a:t>0.62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57"/>
          <p:cNvSpPr/>
          <p:nvPr/>
        </p:nvSpPr>
        <p:spPr>
          <a:xfrm>
            <a:off x="9272520" y="2183760"/>
            <a:ext cx="2427840" cy="730440"/>
          </a:xfrm>
          <a:prstGeom prst="rect">
            <a:avLst/>
          </a:prstGeom>
          <a:solidFill>
            <a:srgbClr val="F4F6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61"/>
          <p:cNvSpPr/>
          <p:nvPr/>
        </p:nvSpPr>
        <p:spPr>
          <a:xfrm>
            <a:off x="9272520" y="2183760"/>
            <a:ext cx="242784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DC2626"/>
                </a:solidFill>
                <a:effectLst/>
                <a:uFillTx/>
                <a:latin typeface="Segoe UI"/>
                <a:ea typeface="Calibri"/>
              </a:rPr>
              <a:t>+208%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58"/>
          <p:cNvSpPr/>
          <p:nvPr/>
        </p:nvSpPr>
        <p:spPr>
          <a:xfrm>
            <a:off x="540000" y="2976120"/>
            <a:ext cx="3700080" cy="7304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62"/>
          <p:cNvSpPr/>
          <p:nvPr/>
        </p:nvSpPr>
        <p:spPr>
          <a:xfrm>
            <a:off x="540000" y="2976120"/>
            <a:ext cx="370008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rgbClr val="1E2761"/>
                </a:solidFill>
                <a:effectLst/>
                <a:uFillTx/>
                <a:latin typeface="Segoe UI"/>
                <a:ea typeface="Calibri"/>
              </a:rPr>
              <a:t>Reclamações (média)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59"/>
          <p:cNvSpPr/>
          <p:nvPr/>
        </p:nvSpPr>
        <p:spPr>
          <a:xfrm>
            <a:off x="4298760" y="2976120"/>
            <a:ext cx="2428200" cy="7304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63"/>
          <p:cNvSpPr/>
          <p:nvPr/>
        </p:nvSpPr>
        <p:spPr>
          <a:xfrm>
            <a:off x="4298760" y="2976120"/>
            <a:ext cx="24282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DC2626"/>
                </a:solidFill>
                <a:effectLst/>
                <a:uFillTx/>
                <a:latin typeface="Segoe UI"/>
                <a:ea typeface="Calibri"/>
              </a:rPr>
              <a:t>4.47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60"/>
          <p:cNvSpPr/>
          <p:nvPr/>
        </p:nvSpPr>
        <p:spPr>
          <a:xfrm>
            <a:off x="6785280" y="2976120"/>
            <a:ext cx="2428200" cy="7304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64"/>
          <p:cNvSpPr/>
          <p:nvPr/>
        </p:nvSpPr>
        <p:spPr>
          <a:xfrm>
            <a:off x="6785280" y="2976120"/>
            <a:ext cx="24282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16A34A"/>
                </a:solidFill>
                <a:effectLst/>
                <a:uFillTx/>
                <a:latin typeface="Segoe UI"/>
                <a:ea typeface="Calibri"/>
              </a:rPr>
              <a:t>2.50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61"/>
          <p:cNvSpPr/>
          <p:nvPr/>
        </p:nvSpPr>
        <p:spPr>
          <a:xfrm>
            <a:off x="9272520" y="2976120"/>
            <a:ext cx="2427840" cy="7304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65"/>
          <p:cNvSpPr/>
          <p:nvPr/>
        </p:nvSpPr>
        <p:spPr>
          <a:xfrm>
            <a:off x="9272520" y="2976120"/>
            <a:ext cx="242784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DC2626"/>
                </a:solidFill>
                <a:effectLst/>
                <a:uFillTx/>
                <a:latin typeface="Segoe UI"/>
                <a:ea typeface="Calibri"/>
              </a:rPr>
              <a:t>+79%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62"/>
          <p:cNvSpPr/>
          <p:nvPr/>
        </p:nvSpPr>
        <p:spPr>
          <a:xfrm>
            <a:off x="540000" y="3768480"/>
            <a:ext cx="3700080" cy="730440"/>
          </a:xfrm>
          <a:prstGeom prst="rect">
            <a:avLst/>
          </a:prstGeom>
          <a:solidFill>
            <a:srgbClr val="F4F6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66"/>
          <p:cNvSpPr/>
          <p:nvPr/>
        </p:nvSpPr>
        <p:spPr>
          <a:xfrm>
            <a:off x="540000" y="3768480"/>
            <a:ext cx="370008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rgbClr val="1E2761"/>
                </a:solidFill>
                <a:effectLst/>
                <a:uFillTx/>
                <a:latin typeface="Segoe UI"/>
                <a:ea typeface="Calibri"/>
              </a:rPr>
              <a:t>Contatos com suporte (média)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63"/>
          <p:cNvSpPr/>
          <p:nvPr/>
        </p:nvSpPr>
        <p:spPr>
          <a:xfrm>
            <a:off x="4298760" y="3768480"/>
            <a:ext cx="2428200" cy="730440"/>
          </a:xfrm>
          <a:prstGeom prst="rect">
            <a:avLst/>
          </a:prstGeom>
          <a:solidFill>
            <a:srgbClr val="F4F6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67"/>
          <p:cNvSpPr/>
          <p:nvPr/>
        </p:nvSpPr>
        <p:spPr>
          <a:xfrm>
            <a:off x="4298760" y="3768480"/>
            <a:ext cx="24282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DC2626"/>
                </a:solidFill>
                <a:effectLst/>
                <a:uFillTx/>
                <a:latin typeface="Calibri"/>
                <a:ea typeface="Calibri"/>
              </a:rPr>
              <a:t>1.77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64"/>
          <p:cNvSpPr/>
          <p:nvPr/>
        </p:nvSpPr>
        <p:spPr>
          <a:xfrm>
            <a:off x="6785280" y="3768480"/>
            <a:ext cx="2428200" cy="730440"/>
          </a:xfrm>
          <a:prstGeom prst="rect">
            <a:avLst/>
          </a:prstGeom>
          <a:solidFill>
            <a:srgbClr val="F4F6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68"/>
          <p:cNvSpPr/>
          <p:nvPr/>
        </p:nvSpPr>
        <p:spPr>
          <a:xfrm>
            <a:off x="6785280" y="3768480"/>
            <a:ext cx="24282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16A34A"/>
                </a:solidFill>
                <a:effectLst/>
                <a:uFillTx/>
                <a:latin typeface="Segoe UI"/>
                <a:ea typeface="Calibri"/>
              </a:rPr>
              <a:t>0.89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65"/>
          <p:cNvSpPr/>
          <p:nvPr/>
        </p:nvSpPr>
        <p:spPr>
          <a:xfrm>
            <a:off x="9272520" y="3768480"/>
            <a:ext cx="2427840" cy="730440"/>
          </a:xfrm>
          <a:prstGeom prst="rect">
            <a:avLst/>
          </a:prstGeom>
          <a:solidFill>
            <a:srgbClr val="F4F6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69"/>
          <p:cNvSpPr/>
          <p:nvPr/>
        </p:nvSpPr>
        <p:spPr>
          <a:xfrm>
            <a:off x="9272520" y="3768480"/>
            <a:ext cx="242784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DC2626"/>
                </a:solidFill>
                <a:effectLst/>
                <a:uFillTx/>
                <a:latin typeface="Segoe UI"/>
                <a:ea typeface="Calibri"/>
              </a:rPr>
              <a:t>+99%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66"/>
          <p:cNvSpPr/>
          <p:nvPr/>
        </p:nvSpPr>
        <p:spPr>
          <a:xfrm>
            <a:off x="540000" y="4560840"/>
            <a:ext cx="3700080" cy="7304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70"/>
          <p:cNvSpPr/>
          <p:nvPr/>
        </p:nvSpPr>
        <p:spPr>
          <a:xfrm>
            <a:off x="540000" y="4560840"/>
            <a:ext cx="370008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rgbClr val="1E2761"/>
                </a:solidFill>
                <a:effectLst/>
                <a:uFillTx/>
                <a:latin typeface="Segoe UI"/>
                <a:ea typeface="Calibri"/>
              </a:rPr>
              <a:t>Tempo de resolução (dias)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67"/>
          <p:cNvSpPr/>
          <p:nvPr/>
        </p:nvSpPr>
        <p:spPr>
          <a:xfrm>
            <a:off x="4298760" y="4560840"/>
            <a:ext cx="2428200" cy="7304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71"/>
          <p:cNvSpPr/>
          <p:nvPr/>
        </p:nvSpPr>
        <p:spPr>
          <a:xfrm>
            <a:off x="4298760" y="4560840"/>
            <a:ext cx="24282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DC2626"/>
                </a:solidFill>
                <a:effectLst/>
                <a:uFillTx/>
                <a:latin typeface="Segoe UI"/>
                <a:ea typeface="Calibri"/>
              </a:rPr>
              <a:t>5.87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68"/>
          <p:cNvSpPr/>
          <p:nvPr/>
        </p:nvSpPr>
        <p:spPr>
          <a:xfrm>
            <a:off x="6785280" y="4560840"/>
            <a:ext cx="2428200" cy="7304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72"/>
          <p:cNvSpPr/>
          <p:nvPr/>
        </p:nvSpPr>
        <p:spPr>
          <a:xfrm>
            <a:off x="6785280" y="4560840"/>
            <a:ext cx="24282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16A34A"/>
                </a:solidFill>
                <a:effectLst/>
                <a:uFillTx/>
                <a:latin typeface="Segoe UI"/>
                <a:ea typeface="Calibri"/>
              </a:rPr>
              <a:t>4.29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69"/>
          <p:cNvSpPr/>
          <p:nvPr/>
        </p:nvSpPr>
        <p:spPr>
          <a:xfrm>
            <a:off x="9272520" y="4560840"/>
            <a:ext cx="2427840" cy="7304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73"/>
          <p:cNvSpPr/>
          <p:nvPr/>
        </p:nvSpPr>
        <p:spPr>
          <a:xfrm>
            <a:off x="9272520" y="4560840"/>
            <a:ext cx="242784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DC2626"/>
                </a:solidFill>
                <a:effectLst/>
                <a:uFillTx/>
                <a:latin typeface="Segoe UI"/>
                <a:ea typeface="Calibri"/>
              </a:rPr>
              <a:t>+37%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70"/>
          <p:cNvSpPr/>
          <p:nvPr/>
        </p:nvSpPr>
        <p:spPr>
          <a:xfrm>
            <a:off x="596160" y="5580000"/>
            <a:ext cx="11043000" cy="899280"/>
          </a:xfrm>
          <a:prstGeom prst="rect">
            <a:avLst/>
          </a:prstGeom>
          <a:solidFill>
            <a:srgbClr val="10737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1500" b="0" u="none" strike="noStrike">
                <a:solidFill>
                  <a:srgbClr val="FFFFFF"/>
                </a:solidFill>
                <a:effectLst/>
                <a:uFillTx/>
                <a:latin typeface="Segoe UI"/>
              </a:rPr>
              <a:t>   Clientes com problemas não resolvidos rapidamente entram em loop de contato -&gt; desgaste -&gt; não recompram -&gt; NPS baixo.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Dieizon A. Ferreira ​  RM: 371888​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Picture 4"/>
          <p:cNvPicPr/>
          <p:nvPr/>
        </p:nvPicPr>
        <p:blipFill>
          <a:blip r:embed="rId1"/>
          <a:srcRect l="14679" t="0" r="6" b="5"/>
          <a:stretch/>
        </p:blipFill>
        <p:spPr>
          <a:xfrm>
            <a:off x="-540000" y="-1647720"/>
            <a:ext cx="12732120" cy="1193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6" name="PlaceHolder 1"/>
          <p:cNvSpPr>
            <a:spLocks noGrp="1"/>
          </p:cNvSpPr>
          <p:nvPr>
            <p:ph type="subTitle"/>
          </p:nvPr>
        </p:nvSpPr>
        <p:spPr>
          <a:xfrm>
            <a:off x="612720" y="808920"/>
            <a:ext cx="10653480" cy="513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111111"/>
                </a:solidFill>
                <a:effectLst/>
                <a:highlight>
                  <a:srgbClr val="EEEEEE"/>
                </a:highlight>
                <a:uFillTx/>
                <a:latin typeface="Segoe UI"/>
              </a:rPr>
              <a:t>Como antecipar o detrator?</a:t>
            </a:r>
            <a:endParaRPr lang="pt-B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Dieizon A. Ferreira ​  RM: 371888​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"/>
          <p:cNvSpPr/>
          <p:nvPr/>
        </p:nvSpPr>
        <p:spPr>
          <a:xfrm>
            <a:off x="360000" y="360000"/>
            <a:ext cx="11340360" cy="57672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200" b="1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Modelo de classificação diário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11"/>
          <p:cNvSpPr/>
          <p:nvPr/>
        </p:nvSpPr>
        <p:spPr>
          <a:xfrm>
            <a:off x="536760" y="2706480"/>
            <a:ext cx="11343960" cy="8100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7080" rIns="90000" bIns="3708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40"/>
          <p:cNvSpPr/>
          <p:nvPr/>
        </p:nvSpPr>
        <p:spPr>
          <a:xfrm>
            <a:off x="549000" y="2122920"/>
            <a:ext cx="4266360" cy="34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Jornada do Pedido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42"/>
          <p:cNvSpPr/>
          <p:nvPr/>
        </p:nvSpPr>
        <p:spPr>
          <a:xfrm>
            <a:off x="4572360" y="2097000"/>
            <a:ext cx="6300000" cy="34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i="1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Modelo roda diariamente, quanto mais tarde na jornada, mais preciso.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13"/>
          <p:cNvSpPr/>
          <p:nvPr/>
        </p:nvSpPr>
        <p:spPr>
          <a:xfrm>
            <a:off x="1939320" y="2516400"/>
            <a:ext cx="461880" cy="462240"/>
          </a:xfrm>
          <a:prstGeom prst="ellipse">
            <a:avLst/>
          </a:prstGeom>
          <a:solidFill>
            <a:srgbClr val="00A9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85"/>
          <p:cNvSpPr/>
          <p:nvPr/>
        </p:nvSpPr>
        <p:spPr>
          <a:xfrm>
            <a:off x="5884200" y="2516400"/>
            <a:ext cx="461880" cy="462240"/>
          </a:xfrm>
          <a:prstGeom prst="ellipse">
            <a:avLst/>
          </a:prstGeom>
          <a:solidFill>
            <a:srgbClr val="E78A6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90"/>
          <p:cNvSpPr/>
          <p:nvPr/>
        </p:nvSpPr>
        <p:spPr>
          <a:xfrm>
            <a:off x="9828720" y="2516400"/>
            <a:ext cx="461880" cy="462240"/>
          </a:xfrm>
          <a:prstGeom prst="ellipse">
            <a:avLst/>
          </a:prstGeom>
          <a:solidFill>
            <a:srgbClr val="DC26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"/>
          <p:cNvSpPr/>
          <p:nvPr/>
        </p:nvSpPr>
        <p:spPr>
          <a:xfrm>
            <a:off x="4500360" y="1493640"/>
            <a:ext cx="6300000" cy="48636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1300" b="0" i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O modelo classifica cada pedido ativo como Provável Detrator, com base no padrão histórico de clientes que deram nota 0 - 6. 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95" name=""/>
          <p:cNvGrpSpPr/>
          <p:nvPr/>
        </p:nvGrpSpPr>
        <p:grpSpPr>
          <a:xfrm>
            <a:off x="540360" y="3195000"/>
            <a:ext cx="3503160" cy="3342240"/>
            <a:chOff x="540360" y="3195000"/>
            <a:chExt cx="3503160" cy="3342240"/>
          </a:xfrm>
        </p:grpSpPr>
        <p:grpSp>
          <p:nvGrpSpPr>
            <p:cNvPr id="296" name=""/>
            <p:cNvGrpSpPr/>
            <p:nvPr/>
          </p:nvGrpSpPr>
          <p:grpSpPr>
            <a:xfrm>
              <a:off x="540360" y="3195000"/>
              <a:ext cx="3503160" cy="3342240"/>
              <a:chOff x="540360" y="3195000"/>
              <a:chExt cx="3503160" cy="3342240"/>
            </a:xfrm>
          </p:grpSpPr>
          <p:sp>
            <p:nvSpPr>
              <p:cNvPr id="297" name=""/>
              <p:cNvSpPr/>
              <p:nvPr/>
            </p:nvSpPr>
            <p:spPr>
              <a:xfrm>
                <a:off x="540360" y="3195000"/>
                <a:ext cx="3499560" cy="3342240"/>
              </a:xfrm>
              <a:prstGeom prst="rect">
                <a:avLst/>
              </a:prstGeom>
              <a:solidFill>
                <a:srgbClr val="00A933"/>
              </a:solidFill>
              <a:ln w="36000">
                <a:solidFill>
                  <a:srgbClr val="00A933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pt-B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8" name="Shape 52"/>
              <p:cNvSpPr/>
              <p:nvPr/>
            </p:nvSpPr>
            <p:spPr>
              <a:xfrm>
                <a:off x="540360" y="3295440"/>
                <a:ext cx="3503160" cy="3241800"/>
              </a:xfrm>
              <a:prstGeom prst="rect">
                <a:avLst/>
              </a:prstGeom>
              <a:solidFill>
                <a:srgbClr val="FFFFFF"/>
              </a:solidFill>
              <a:ln w="0">
                <a:noFill/>
              </a:ln>
              <a:effectLst>
                <a:outerShdw algn="bl" blurRad="101520" dir="8100000" dist="37674" kx="0" ky="0" rotWithShape="0" sx="100000" sy="100000">
                  <a:srgbClr val="000000">
                    <a:alpha val="10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b">
                <a:noAutofit/>
              </a:bodyPr>
              <a:p>
                <a:endParaRPr lang="pt-BR" sz="1800" b="0" u="none" strike="noStrike">
                  <a:solidFill>
                    <a:srgbClr val="000000"/>
                  </a:solidFill>
                  <a:effectLst/>
                  <a:uFillTx/>
                  <a:latin typeface="Segoe UI"/>
                </a:endParaRPr>
              </a:p>
            </p:txBody>
          </p:sp>
        </p:grpSp>
        <p:sp>
          <p:nvSpPr>
            <p:cNvPr id="299" name=""/>
            <p:cNvSpPr/>
            <p:nvPr/>
          </p:nvSpPr>
          <p:spPr>
            <a:xfrm>
              <a:off x="606240" y="3376800"/>
              <a:ext cx="3367800" cy="318240"/>
            </a:xfrm>
            <a:prstGeom prst="rect">
              <a:avLst/>
            </a:prstGeom>
            <a:noFill/>
            <a:ln w="360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 anchorCtr="1">
              <a:sp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pt-BR" sz="1500" b="1" u="none" strike="noStrike">
                  <a:solidFill>
                    <a:srgbClr val="00A933"/>
                  </a:solidFill>
                  <a:effectLst/>
                  <a:uFillTx/>
                  <a:latin typeface="Segoe UI"/>
                  <a:ea typeface="Calibri"/>
                </a:rPr>
                <a:t>🛒  Pedido realizado</a:t>
              </a:r>
              <a:endParaRPr lang="pt-BR" sz="1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0" name=""/>
            <p:cNvSpPr/>
            <p:nvPr/>
          </p:nvSpPr>
          <p:spPr>
            <a:xfrm>
              <a:off x="658080" y="3827160"/>
              <a:ext cx="3272760" cy="380520"/>
            </a:xfrm>
            <a:prstGeom prst="rect">
              <a:avLst/>
            </a:prstGeom>
            <a:solidFill>
              <a:srgbClr val="EEEEEE"/>
            </a:solidFill>
            <a:ln w="36000">
              <a:solidFill>
                <a:srgbClr val="EEEEEE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pt-BR" sz="1400" b="1" u="none" strike="noStrike">
                  <a:solidFill>
                    <a:srgbClr val="00A933"/>
                  </a:solidFill>
                  <a:effectLst/>
                  <a:uFillTx/>
                  <a:latin typeface="Segoe UI"/>
                  <a:ea typeface="Calibri"/>
                </a:rPr>
                <a:t>Sinal fraco</a:t>
              </a:r>
              <a:endPara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1" name=""/>
            <p:cNvSpPr/>
            <p:nvPr/>
          </p:nvSpPr>
          <p:spPr>
            <a:xfrm>
              <a:off x="580320" y="4364280"/>
              <a:ext cx="3437280" cy="1464120"/>
            </a:xfrm>
            <a:prstGeom prst="rect">
              <a:avLst/>
            </a:prstGeom>
            <a:noFill/>
            <a:ln w="360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marL="216000" indent="-216000">
                <a:lnSpc>
                  <a:spcPct val="100000"/>
                </a:lnSpc>
                <a:buClr>
                  <a:srgbClr val="666666"/>
                </a:buClr>
                <a:buSzPct val="45000"/>
                <a:buFont typeface="Wingdings" charset="2"/>
                <a:buChar char=""/>
              </a:pPr>
              <a:r>
                <a:rPr lang="pt-BR" sz="1200" b="0" u="none" strike="noStrike">
                  <a:solidFill>
                    <a:srgbClr val="666666"/>
                  </a:solidFill>
                  <a:effectLst/>
                  <a:uFillTx/>
                  <a:latin typeface="Segoe UI"/>
                </a:rPr>
                <a:t>order_value (valor pedido)</a:t>
              </a:r>
              <a:endPara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>
                <a:lnSpc>
                  <a:spcPct val="100000"/>
                </a:lnSpc>
                <a:buClr>
                  <a:srgbClr val="666666"/>
                </a:buClr>
                <a:buSzPct val="45000"/>
                <a:buFont typeface="Wingdings" charset="2"/>
                <a:buChar char=""/>
              </a:pPr>
              <a:r>
                <a:rPr lang="pt-BR" sz="1200" b="0" u="none" strike="noStrike">
                  <a:solidFill>
                    <a:srgbClr val="666666"/>
                  </a:solidFill>
                  <a:effectLst/>
                  <a:uFillTx/>
                  <a:latin typeface="Segoe UI"/>
                </a:rPr>
                <a:t>freight_value (valor frete)</a:t>
              </a:r>
              <a:endPara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>
                <a:lnSpc>
                  <a:spcPct val="100000"/>
                </a:lnSpc>
                <a:buClr>
                  <a:srgbClr val="666666"/>
                </a:buClr>
                <a:buSzPct val="45000"/>
                <a:buFont typeface="Wingdings" charset="2"/>
                <a:buChar char=""/>
              </a:pPr>
              <a:r>
                <a:rPr lang="pt-BR" sz="1200" b="0" u="none" strike="noStrike">
                  <a:solidFill>
                    <a:srgbClr val="666666"/>
                  </a:solidFill>
                  <a:effectLst/>
                  <a:uFillTx/>
                  <a:latin typeface="Segoe UI"/>
                </a:rPr>
                <a:t>customer_tenure_months (meses de relacionamento com o cliente)</a:t>
              </a:r>
              <a:endPara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  <a:buClr>
                  <a:srgbClr val="666666"/>
                </a:buClr>
                <a:buSzPct val="45000"/>
                <a:buFont typeface="Wingdings" charset="2"/>
                <a:buChar char=""/>
              </a:pPr>
              <a:r>
                <a:rPr lang="pt-BR" sz="1200" b="0" u="none" strike="noStrike">
                  <a:solidFill>
                    <a:srgbClr val="666666"/>
                  </a:solidFill>
                  <a:effectLst/>
                  <a:uFillTx/>
                  <a:latin typeface="Segoe UI"/>
                </a:rPr>
                <a:t>discount_value (valor de desconto)</a:t>
              </a:r>
              <a:endPara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>
                <a:lnSpc>
                  <a:spcPct val="100000"/>
                </a:lnSpc>
                <a:buClr>
                  <a:srgbClr val="666666"/>
                </a:buClr>
                <a:buSzPct val="45000"/>
                <a:buFont typeface="Wingdings" charset="2"/>
                <a:buChar char=""/>
              </a:pPr>
              <a:r>
                <a:rPr lang="pt-BR" sz="1200" b="0" u="none" strike="noStrike">
                  <a:solidFill>
                    <a:srgbClr val="666666"/>
                  </a:solidFill>
                  <a:effectLst/>
                  <a:uFillTx/>
                  <a:latin typeface="Segoe UI"/>
                </a:rPr>
                <a:t>histórico do cliente</a:t>
              </a:r>
              <a:endPara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02" name=""/>
          <p:cNvGrpSpPr/>
          <p:nvPr/>
        </p:nvGrpSpPr>
        <p:grpSpPr>
          <a:xfrm>
            <a:off x="4415760" y="3195000"/>
            <a:ext cx="3503160" cy="3342240"/>
            <a:chOff x="4415760" y="3195000"/>
            <a:chExt cx="3503160" cy="3342240"/>
          </a:xfrm>
        </p:grpSpPr>
        <p:grpSp>
          <p:nvGrpSpPr>
            <p:cNvPr id="303" name=""/>
            <p:cNvGrpSpPr/>
            <p:nvPr/>
          </p:nvGrpSpPr>
          <p:grpSpPr>
            <a:xfrm>
              <a:off x="4415760" y="3195000"/>
              <a:ext cx="3503160" cy="3342240"/>
              <a:chOff x="4415760" y="3195000"/>
              <a:chExt cx="3503160" cy="3342240"/>
            </a:xfrm>
          </p:grpSpPr>
          <p:sp>
            <p:nvSpPr>
              <p:cNvPr id="304" name=""/>
              <p:cNvSpPr/>
              <p:nvPr/>
            </p:nvSpPr>
            <p:spPr>
              <a:xfrm>
                <a:off x="4415760" y="3195000"/>
                <a:ext cx="3499560" cy="3342240"/>
              </a:xfrm>
              <a:prstGeom prst="rect">
                <a:avLst/>
              </a:prstGeom>
              <a:solidFill>
                <a:srgbClr val="E78A67"/>
              </a:solidFill>
              <a:ln w="36000">
                <a:solidFill>
                  <a:srgbClr val="E78A67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pt-BR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5" name="Shape 52"/>
              <p:cNvSpPr/>
              <p:nvPr/>
            </p:nvSpPr>
            <p:spPr>
              <a:xfrm>
                <a:off x="4415760" y="3295440"/>
                <a:ext cx="3503160" cy="3241800"/>
              </a:xfrm>
              <a:prstGeom prst="rect">
                <a:avLst/>
              </a:prstGeom>
              <a:solidFill>
                <a:srgbClr val="FFFFFF"/>
              </a:solidFill>
              <a:ln w="0">
                <a:noFill/>
              </a:ln>
              <a:effectLst>
                <a:outerShdw algn="bl" blurRad="101520" dir="8100000" dist="37674" kx="0" ky="0" rotWithShape="0" sx="100000" sy="100000">
                  <a:srgbClr val="000000">
                    <a:alpha val="10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b">
                <a:noAutofit/>
              </a:bodyPr>
              <a:p>
                <a:endParaRPr lang="pt-BR" sz="1800" b="0" u="none" strike="noStrike">
                  <a:solidFill>
                    <a:srgbClr val="000000"/>
                  </a:solidFill>
                  <a:effectLst/>
                  <a:uFillTx/>
                  <a:latin typeface="Segoe UI"/>
                </a:endParaRPr>
              </a:p>
            </p:txBody>
          </p:sp>
        </p:grpSp>
        <p:grpSp>
          <p:nvGrpSpPr>
            <p:cNvPr id="306" name=""/>
            <p:cNvGrpSpPr/>
            <p:nvPr/>
          </p:nvGrpSpPr>
          <p:grpSpPr>
            <a:xfrm>
              <a:off x="4455720" y="3376800"/>
              <a:ext cx="3437280" cy="1625760"/>
              <a:chOff x="4455720" y="3376800"/>
              <a:chExt cx="3437280" cy="1625760"/>
            </a:xfrm>
          </p:grpSpPr>
          <p:sp>
            <p:nvSpPr>
              <p:cNvPr id="307" name=""/>
              <p:cNvSpPr/>
              <p:nvPr/>
            </p:nvSpPr>
            <p:spPr>
              <a:xfrm>
                <a:off x="4481640" y="3376800"/>
                <a:ext cx="3367800" cy="318240"/>
              </a:xfrm>
              <a:prstGeom prst="rect">
                <a:avLst/>
              </a:prstGeom>
              <a:noFill/>
              <a:ln w="360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 anchorCtr="1">
                <a:spAutoFit/>
              </a:bodyPr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pt-BR" sz="1500" b="1" u="none" strike="noStrike">
                    <a:solidFill>
                      <a:srgbClr val="E78A67"/>
                    </a:solidFill>
                    <a:effectLst/>
                    <a:uFillTx/>
                    <a:latin typeface="Segoe UI"/>
                    <a:ea typeface="Calibri"/>
                  </a:rPr>
                  <a:t>🚚  Em Transporte</a:t>
                </a:r>
                <a:endParaRPr lang="pt-BR" sz="15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8" name=""/>
              <p:cNvSpPr/>
              <p:nvPr/>
            </p:nvSpPr>
            <p:spPr>
              <a:xfrm>
                <a:off x="4533480" y="3827160"/>
                <a:ext cx="3272760" cy="380520"/>
              </a:xfrm>
              <a:prstGeom prst="rect">
                <a:avLst/>
              </a:prstGeom>
              <a:solidFill>
                <a:srgbClr val="EEEEEE"/>
              </a:solidFill>
              <a:ln w="36000">
                <a:solidFill>
                  <a:srgbClr val="EEEEEE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pt-BR" sz="1400" b="1" u="none" strike="noStrike">
                    <a:solidFill>
                      <a:srgbClr val="E78A67"/>
                    </a:solidFill>
                    <a:effectLst/>
                    <a:uFillTx/>
                    <a:latin typeface="Segoe UI"/>
                    <a:ea typeface="Calibri"/>
                  </a:rPr>
                  <a:t>Sinal moderado</a:t>
                </a:r>
                <a:endParaRPr lang="pt-BR" sz="14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9" name=""/>
              <p:cNvSpPr/>
              <p:nvPr/>
            </p:nvSpPr>
            <p:spPr>
              <a:xfrm>
                <a:off x="4455720" y="4364280"/>
                <a:ext cx="3437280" cy="638280"/>
              </a:xfrm>
              <a:prstGeom prst="rect">
                <a:avLst/>
              </a:prstGeom>
              <a:noFill/>
              <a:ln w="360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spAutoFit/>
              </a:bodyPr>
              <a:p>
                <a:pPr marL="216000" indent="-216000">
                  <a:lnSpc>
                    <a:spcPct val="100000"/>
                  </a:lnSpc>
                  <a:buClr>
                    <a:srgbClr val="666666"/>
                  </a:buClr>
                  <a:buSzPct val="45000"/>
                  <a:buFont typeface="Wingdings" charset="2"/>
                  <a:buChar char=""/>
                </a:pPr>
                <a:r>
                  <a:rPr lang="pt-BR" sz="1200" b="0" u="none" strike="noStrike">
                    <a:solidFill>
                      <a:srgbClr val="666666"/>
                    </a:solidFill>
                    <a:effectLst/>
                    <a:uFillTx/>
                    <a:latin typeface="Segoe UI"/>
                  </a:rPr>
                  <a:t>delivery_attempts (Tentativas de entrega)</a:t>
                </a:r>
                <a:endParaRPr lang="pt-BR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marL="216000" indent="-216000">
                  <a:lnSpc>
                    <a:spcPct val="100000"/>
                  </a:lnSpc>
                  <a:buClr>
                    <a:srgbClr val="666666"/>
                  </a:buClr>
                  <a:buSzPct val="45000"/>
                  <a:buFont typeface="Wingdings" charset="2"/>
                  <a:buChar char=""/>
                </a:pPr>
                <a:r>
                  <a:rPr lang="pt-BR" sz="1200" b="0" u="none" strike="noStrike">
                    <a:solidFill>
                      <a:srgbClr val="666666"/>
                    </a:solidFill>
                    <a:effectLst/>
                    <a:uFillTx/>
                    <a:latin typeface="Segoe UI"/>
                  </a:rPr>
                  <a:t>dias em trânsito vs. prazo</a:t>
                </a:r>
                <a:endParaRPr lang="pt-BR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>
                  <a:lnSpc>
                    <a:spcPct val="100000"/>
                  </a:lnSpc>
                </a:pPr>
                <a:endParaRPr lang="pt-BR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grpSp>
        <p:nvGrpSpPr>
          <p:cNvPr id="310" name=""/>
          <p:cNvGrpSpPr/>
          <p:nvPr/>
        </p:nvGrpSpPr>
        <p:grpSpPr>
          <a:xfrm>
            <a:off x="8290800" y="3195000"/>
            <a:ext cx="3503160" cy="3342240"/>
            <a:chOff x="8290800" y="3195000"/>
            <a:chExt cx="3503160" cy="3342240"/>
          </a:xfrm>
        </p:grpSpPr>
        <p:grpSp>
          <p:nvGrpSpPr>
            <p:cNvPr id="311" name=""/>
            <p:cNvGrpSpPr/>
            <p:nvPr/>
          </p:nvGrpSpPr>
          <p:grpSpPr>
            <a:xfrm>
              <a:off x="8290800" y="3195000"/>
              <a:ext cx="3503160" cy="3342240"/>
              <a:chOff x="8290800" y="3195000"/>
              <a:chExt cx="3503160" cy="3342240"/>
            </a:xfrm>
          </p:grpSpPr>
          <p:sp>
            <p:nvSpPr>
              <p:cNvPr id="312" name=""/>
              <p:cNvSpPr/>
              <p:nvPr/>
            </p:nvSpPr>
            <p:spPr>
              <a:xfrm>
                <a:off x="8290800" y="3195000"/>
                <a:ext cx="3499560" cy="3342240"/>
              </a:xfrm>
              <a:prstGeom prst="rect">
                <a:avLst/>
              </a:prstGeom>
              <a:solidFill>
                <a:srgbClr val="DC2626"/>
              </a:solidFill>
              <a:ln w="36000">
                <a:solidFill>
                  <a:srgbClr val="DC2626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pt-B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3" name="Shape 52"/>
              <p:cNvSpPr/>
              <p:nvPr/>
            </p:nvSpPr>
            <p:spPr>
              <a:xfrm>
                <a:off x="8290800" y="3295440"/>
                <a:ext cx="3503160" cy="3241800"/>
              </a:xfrm>
              <a:prstGeom prst="rect">
                <a:avLst/>
              </a:prstGeom>
              <a:solidFill>
                <a:srgbClr val="FFFFFF"/>
              </a:solidFill>
              <a:ln w="0">
                <a:noFill/>
              </a:ln>
              <a:effectLst>
                <a:outerShdw algn="bl" blurRad="101520" dir="8100000" dist="37674" kx="0" ky="0" rotWithShape="0" sx="100000" sy="100000">
                  <a:srgbClr val="000000">
                    <a:alpha val="10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b">
                <a:noAutofit/>
              </a:bodyPr>
              <a:p>
                <a:endParaRPr lang="pt-BR" sz="1800" b="0" u="none" strike="noStrike">
                  <a:solidFill>
                    <a:srgbClr val="000000"/>
                  </a:solidFill>
                  <a:effectLst/>
                  <a:uFillTx/>
                  <a:latin typeface="Segoe UI"/>
                </a:endParaRPr>
              </a:p>
            </p:txBody>
          </p:sp>
        </p:grpSp>
        <p:sp>
          <p:nvSpPr>
            <p:cNvPr id="314" name=""/>
            <p:cNvSpPr/>
            <p:nvPr/>
          </p:nvSpPr>
          <p:spPr>
            <a:xfrm>
              <a:off x="8356680" y="3376800"/>
              <a:ext cx="3367800" cy="318240"/>
            </a:xfrm>
            <a:prstGeom prst="rect">
              <a:avLst/>
            </a:prstGeom>
            <a:noFill/>
            <a:ln w="360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 anchorCtr="1">
              <a:sp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pt-BR" sz="1500" b="1" u="none" strike="noStrike">
                  <a:solidFill>
                    <a:srgbClr val="DC2626"/>
                  </a:solidFill>
                  <a:effectLst/>
                  <a:uFillTx/>
                  <a:latin typeface="Segoe UI"/>
                  <a:ea typeface="Calibri"/>
                </a:rPr>
                <a:t>⚠️  Atraso Ativo</a:t>
              </a:r>
              <a:endParaRPr lang="pt-BR" sz="1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5" name=""/>
            <p:cNvSpPr/>
            <p:nvPr/>
          </p:nvSpPr>
          <p:spPr>
            <a:xfrm>
              <a:off x="8408520" y="3827160"/>
              <a:ext cx="3272760" cy="380520"/>
            </a:xfrm>
            <a:prstGeom prst="rect">
              <a:avLst/>
            </a:prstGeom>
            <a:solidFill>
              <a:srgbClr val="EEEEEE"/>
            </a:solidFill>
            <a:ln w="36000">
              <a:solidFill>
                <a:srgbClr val="EEEEEE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pt-BR" sz="1400" b="1" u="none" strike="noStrike">
                  <a:solidFill>
                    <a:srgbClr val="DC2626"/>
                  </a:solidFill>
                  <a:effectLst/>
                  <a:uFillTx/>
                  <a:latin typeface="Segoe UI"/>
                  <a:ea typeface="Calibri"/>
                </a:rPr>
                <a:t>Sinal forte</a:t>
              </a:r>
              <a:endPara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6" name=""/>
            <p:cNvSpPr/>
            <p:nvPr/>
          </p:nvSpPr>
          <p:spPr>
            <a:xfrm>
              <a:off x="8330760" y="4364280"/>
              <a:ext cx="3437280" cy="1369800"/>
            </a:xfrm>
            <a:prstGeom prst="rect">
              <a:avLst/>
            </a:prstGeom>
            <a:noFill/>
            <a:ln w="360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marL="216000" indent="-216000">
                <a:lnSpc>
                  <a:spcPct val="100000"/>
                </a:lnSpc>
                <a:buClr>
                  <a:srgbClr val="666666"/>
                </a:buClr>
                <a:buSzPct val="45000"/>
                <a:buFont typeface="Wingdings" charset="2"/>
                <a:buChar char=""/>
              </a:pPr>
              <a:r>
                <a:rPr lang="pt-BR" sz="1200" b="0" u="none" strike="noStrike">
                  <a:solidFill>
                    <a:srgbClr val="666666"/>
                  </a:solidFill>
                  <a:effectLst/>
                  <a:uFillTx/>
                  <a:latin typeface="Segoe UI"/>
                </a:rPr>
                <a:t>delivery_delay_days &gt;= 1 (dias de atraso na entrega)</a:t>
              </a:r>
              <a:endPara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>
                <a:lnSpc>
                  <a:spcPct val="100000"/>
                </a:lnSpc>
                <a:buClr>
                  <a:srgbClr val="666666"/>
                </a:buClr>
                <a:buSzPct val="45000"/>
                <a:buFont typeface="Wingdings" charset="2"/>
                <a:buChar char=""/>
              </a:pPr>
              <a:r>
                <a:rPr lang="pt-BR" sz="1200" b="0" u="none" strike="noStrike">
                  <a:solidFill>
                    <a:srgbClr val="666666"/>
                  </a:solidFill>
                  <a:effectLst/>
                  <a:uFillTx/>
                  <a:latin typeface="Segoe UI"/>
                </a:rPr>
                <a:t>customer_service_contacts (contatos do cliente com o atendimento)</a:t>
              </a:r>
              <a:endPara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>
                <a:lnSpc>
                  <a:spcPct val="100000"/>
                </a:lnSpc>
                <a:buClr>
                  <a:srgbClr val="666666"/>
                </a:buClr>
                <a:buSzPct val="45000"/>
                <a:buFont typeface="Wingdings" charset="2"/>
                <a:buChar char=""/>
              </a:pPr>
              <a:r>
                <a:rPr lang="pt-BR" sz="1200" b="0" u="none" strike="noStrike">
                  <a:solidFill>
                    <a:srgbClr val="666666"/>
                  </a:solidFill>
                  <a:effectLst/>
                  <a:uFillTx/>
                  <a:latin typeface="Segoe UI"/>
                </a:rPr>
                <a:t>complaints_count (quantidade de reclamações)</a:t>
              </a:r>
              <a:endPara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Dieizon A. Ferreira ​  RM: 371888​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"/>
          <p:cNvSpPr/>
          <p:nvPr/>
        </p:nvSpPr>
        <p:spPr>
          <a:xfrm>
            <a:off x="540360" y="360360"/>
            <a:ext cx="11340360" cy="63828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600" b="1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Recomendações práticas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18" name=""/>
          <p:cNvGrpSpPr/>
          <p:nvPr/>
        </p:nvGrpSpPr>
        <p:grpSpPr>
          <a:xfrm>
            <a:off x="540000" y="1080000"/>
            <a:ext cx="5319720" cy="2519640"/>
            <a:chOff x="540000" y="1080000"/>
            <a:chExt cx="5319720" cy="2519640"/>
          </a:xfrm>
        </p:grpSpPr>
        <p:grpSp>
          <p:nvGrpSpPr>
            <p:cNvPr id="319" name=""/>
            <p:cNvGrpSpPr/>
            <p:nvPr/>
          </p:nvGrpSpPr>
          <p:grpSpPr>
            <a:xfrm>
              <a:off x="720000" y="1080000"/>
              <a:ext cx="5139720" cy="2519640"/>
              <a:chOff x="720000" y="1080000"/>
              <a:chExt cx="5139720" cy="2519640"/>
            </a:xfrm>
          </p:grpSpPr>
          <p:sp>
            <p:nvSpPr>
              <p:cNvPr id="320" name=""/>
              <p:cNvSpPr/>
              <p:nvPr/>
            </p:nvSpPr>
            <p:spPr>
              <a:xfrm>
                <a:off x="720000" y="1080000"/>
                <a:ext cx="5134680" cy="2519640"/>
              </a:xfrm>
              <a:prstGeom prst="rect">
                <a:avLst/>
              </a:prstGeom>
              <a:solidFill>
                <a:srgbClr val="DC2626"/>
              </a:solidFill>
              <a:ln w="36000">
                <a:solidFill>
                  <a:srgbClr val="DC2626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pt-B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1" name="Shape 52"/>
              <p:cNvSpPr/>
              <p:nvPr/>
            </p:nvSpPr>
            <p:spPr>
              <a:xfrm>
                <a:off x="720000" y="1155600"/>
                <a:ext cx="5139720" cy="2444040"/>
              </a:xfrm>
              <a:prstGeom prst="rect">
                <a:avLst/>
              </a:prstGeom>
              <a:solidFill>
                <a:srgbClr val="FFFFFF"/>
              </a:solidFill>
              <a:ln w="0">
                <a:noFill/>
              </a:ln>
              <a:effectLst>
                <a:outerShdw algn="bl" blurRad="101520" dir="8100000" dist="37674" kx="0" ky="0" rotWithShape="0" sx="100000" sy="100000">
                  <a:srgbClr val="000000">
                    <a:alpha val="10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b">
                <a:noAutofit/>
              </a:bodyPr>
              <a:p>
                <a:endParaRPr lang="pt-BR" sz="1800" b="0" u="none" strike="noStrike">
                  <a:solidFill>
                    <a:srgbClr val="000000"/>
                  </a:solidFill>
                  <a:effectLst/>
                  <a:uFillTx/>
                  <a:latin typeface="Segoe UI"/>
                </a:endParaRPr>
              </a:p>
            </p:txBody>
          </p:sp>
        </p:grpSp>
        <p:sp>
          <p:nvSpPr>
            <p:cNvPr id="322" name=""/>
            <p:cNvSpPr/>
            <p:nvPr/>
          </p:nvSpPr>
          <p:spPr>
            <a:xfrm>
              <a:off x="816840" y="1216800"/>
              <a:ext cx="4941000" cy="363960"/>
            </a:xfrm>
            <a:prstGeom prst="rect">
              <a:avLst/>
            </a:prstGeom>
            <a:noFill/>
            <a:ln w="360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pt-BR" sz="1800" b="1" u="none" strike="noStrike">
                  <a:solidFill>
                    <a:srgbClr val="DC2626"/>
                  </a:solidFill>
                  <a:effectLst/>
                  <a:uFillTx/>
                  <a:latin typeface="Segoe UI"/>
                  <a:ea typeface="Calibri"/>
                </a:rPr>
                <a:t>🚚 Logística</a:t>
              </a:r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3" name=""/>
            <p:cNvSpPr/>
            <p:nvPr/>
          </p:nvSpPr>
          <p:spPr>
            <a:xfrm>
              <a:off x="540000" y="2393640"/>
              <a:ext cx="5281560" cy="684720"/>
            </a:xfrm>
            <a:prstGeom prst="rect">
              <a:avLst/>
            </a:prstGeom>
            <a:noFill/>
            <a:ln w="360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marL="216000" indent="-216000">
                <a:lnSpc>
                  <a:spcPct val="100000"/>
                </a:lnSpc>
                <a:buClr>
                  <a:srgbClr val="666666"/>
                </a:buClr>
                <a:buSzPct val="45000"/>
                <a:buFont typeface="Wingdings" charset="2"/>
                <a:buChar char=""/>
              </a:pPr>
              <a:r>
                <a:rPr lang="pt-BR" sz="1300" b="0" u="none" strike="noStrike">
                  <a:solidFill>
                    <a:srgbClr val="000000"/>
                  </a:solidFill>
                  <a:effectLst/>
                  <a:uFillTx/>
                  <a:latin typeface="Segoe UI"/>
                </a:rPr>
                <a:t>1 dia de atraso já converte a maioria dos clientes em detratores. Renegociar prazos com transportadoras e criar alertas preventivos de atraso.</a:t>
              </a:r>
              <a:endParaRPr lang="pt-BR" sz="1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24" name=""/>
          <p:cNvSpPr/>
          <p:nvPr/>
        </p:nvSpPr>
        <p:spPr>
          <a:xfrm>
            <a:off x="720000" y="1764000"/>
            <a:ext cx="5101560" cy="34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140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Prioridade máxima: Zerar atrasos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25" name=""/>
          <p:cNvGrpSpPr/>
          <p:nvPr/>
        </p:nvGrpSpPr>
        <p:grpSpPr>
          <a:xfrm>
            <a:off x="6120360" y="1080000"/>
            <a:ext cx="5319720" cy="2519640"/>
            <a:chOff x="6120360" y="1080000"/>
            <a:chExt cx="5319720" cy="2519640"/>
          </a:xfrm>
        </p:grpSpPr>
        <p:grpSp>
          <p:nvGrpSpPr>
            <p:cNvPr id="326" name=""/>
            <p:cNvGrpSpPr/>
            <p:nvPr/>
          </p:nvGrpSpPr>
          <p:grpSpPr>
            <a:xfrm>
              <a:off x="6300360" y="1080000"/>
              <a:ext cx="5139720" cy="2519640"/>
              <a:chOff x="6300360" y="1080000"/>
              <a:chExt cx="5139720" cy="2519640"/>
            </a:xfrm>
          </p:grpSpPr>
          <p:sp>
            <p:nvSpPr>
              <p:cNvPr id="327" name=""/>
              <p:cNvSpPr/>
              <p:nvPr/>
            </p:nvSpPr>
            <p:spPr>
              <a:xfrm>
                <a:off x="6300360" y="1080000"/>
                <a:ext cx="5134680" cy="2519640"/>
              </a:xfrm>
              <a:prstGeom prst="rect">
                <a:avLst/>
              </a:prstGeom>
              <a:solidFill>
                <a:srgbClr val="E78A67"/>
              </a:solidFill>
              <a:ln w="36000">
                <a:solidFill>
                  <a:srgbClr val="E78A67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pt-B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8" name="Shape 52"/>
              <p:cNvSpPr/>
              <p:nvPr/>
            </p:nvSpPr>
            <p:spPr>
              <a:xfrm>
                <a:off x="6300360" y="1155600"/>
                <a:ext cx="5139720" cy="2444040"/>
              </a:xfrm>
              <a:prstGeom prst="rect">
                <a:avLst/>
              </a:prstGeom>
              <a:solidFill>
                <a:srgbClr val="FFFFFF"/>
              </a:solidFill>
              <a:ln w="0">
                <a:noFill/>
              </a:ln>
              <a:effectLst>
                <a:outerShdw algn="bl" blurRad="101520" dir="8100000" dist="37674" kx="0" ky="0" rotWithShape="0" sx="100000" sy="100000">
                  <a:srgbClr val="000000">
                    <a:alpha val="10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b">
                <a:noAutofit/>
              </a:bodyPr>
              <a:p>
                <a:endParaRPr lang="pt-BR" sz="1800" b="0" u="none" strike="noStrike">
                  <a:solidFill>
                    <a:srgbClr val="000000"/>
                  </a:solidFill>
                  <a:effectLst/>
                  <a:uFillTx/>
                  <a:latin typeface="Segoe UI"/>
                </a:endParaRPr>
              </a:p>
            </p:txBody>
          </p:sp>
        </p:grpSp>
        <p:sp>
          <p:nvSpPr>
            <p:cNvPr id="329" name=""/>
            <p:cNvSpPr/>
            <p:nvPr/>
          </p:nvSpPr>
          <p:spPr>
            <a:xfrm>
              <a:off x="6397200" y="1216800"/>
              <a:ext cx="4941000" cy="363960"/>
            </a:xfrm>
            <a:prstGeom prst="rect">
              <a:avLst/>
            </a:prstGeom>
            <a:noFill/>
            <a:ln w="360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pt-BR" sz="1800" b="1" u="none" strike="noStrike">
                  <a:solidFill>
                    <a:srgbClr val="DC2626"/>
                  </a:solidFill>
                  <a:effectLst/>
                  <a:uFillTx/>
                  <a:latin typeface="Segoe UI"/>
                  <a:ea typeface="Calibri"/>
                </a:rPr>
                <a:t>🎧 </a:t>
              </a:r>
              <a:r>
                <a:rPr lang="pt-BR" sz="1800" b="1" u="none" strike="noStrike">
                  <a:solidFill>
                    <a:srgbClr val="E78A67"/>
                  </a:solidFill>
                  <a:effectLst/>
                  <a:uFillTx/>
                  <a:latin typeface="Segoe UI"/>
                  <a:ea typeface="Calibri"/>
                </a:rPr>
                <a:t>Atendimento</a:t>
              </a:r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0" name=""/>
            <p:cNvSpPr/>
            <p:nvPr/>
          </p:nvSpPr>
          <p:spPr>
            <a:xfrm>
              <a:off x="6120360" y="2393640"/>
              <a:ext cx="5281560" cy="486360"/>
            </a:xfrm>
            <a:prstGeom prst="rect">
              <a:avLst/>
            </a:prstGeom>
            <a:noFill/>
            <a:ln w="360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marL="216000" indent="-216000">
                <a:lnSpc>
                  <a:spcPct val="100000"/>
                </a:lnSpc>
                <a:buClr>
                  <a:srgbClr val="666666"/>
                </a:buClr>
                <a:buSzPct val="45000"/>
                <a:buFont typeface="Wingdings" charset="2"/>
                <a:buChar char=""/>
              </a:pPr>
              <a:r>
                <a:rPr lang="pt-BR" sz="1300" b="0" u="none" strike="noStrike">
                  <a:solidFill>
                    <a:srgbClr val="000000"/>
                  </a:solidFill>
                  <a:effectLst/>
                  <a:uFillTx/>
                  <a:latin typeface="Segoe UI"/>
                </a:rPr>
                <a:t>Clientes que acionam o suporte múltiplas vezes têm NPS 117% pior.</a:t>
              </a:r>
              <a:endParaRPr lang="pt-BR" sz="1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31" name=""/>
          <p:cNvSpPr/>
          <p:nvPr/>
        </p:nvSpPr>
        <p:spPr>
          <a:xfrm>
            <a:off x="6300360" y="1764000"/>
            <a:ext cx="5101560" cy="34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140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Resolver na primeira chamada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32" name=""/>
          <p:cNvGrpSpPr/>
          <p:nvPr/>
        </p:nvGrpSpPr>
        <p:grpSpPr>
          <a:xfrm>
            <a:off x="540000" y="3960000"/>
            <a:ext cx="5319720" cy="2519640"/>
            <a:chOff x="540000" y="3960000"/>
            <a:chExt cx="5319720" cy="2519640"/>
          </a:xfrm>
        </p:grpSpPr>
        <p:grpSp>
          <p:nvGrpSpPr>
            <p:cNvPr id="333" name=""/>
            <p:cNvGrpSpPr/>
            <p:nvPr/>
          </p:nvGrpSpPr>
          <p:grpSpPr>
            <a:xfrm>
              <a:off x="720000" y="3960000"/>
              <a:ext cx="5139720" cy="2519640"/>
              <a:chOff x="720000" y="3960000"/>
              <a:chExt cx="5139720" cy="2519640"/>
            </a:xfrm>
          </p:grpSpPr>
          <p:sp>
            <p:nvSpPr>
              <p:cNvPr id="334" name=""/>
              <p:cNvSpPr/>
              <p:nvPr/>
            </p:nvSpPr>
            <p:spPr>
              <a:xfrm>
                <a:off x="720000" y="3960000"/>
                <a:ext cx="5134680" cy="2519640"/>
              </a:xfrm>
              <a:prstGeom prst="rect">
                <a:avLst/>
              </a:prstGeom>
              <a:solidFill>
                <a:srgbClr val="813709"/>
              </a:solidFill>
              <a:ln w="36000">
                <a:solidFill>
                  <a:srgbClr val="813709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pt-B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5" name="Shape 52"/>
              <p:cNvSpPr/>
              <p:nvPr/>
            </p:nvSpPr>
            <p:spPr>
              <a:xfrm>
                <a:off x="720000" y="4035600"/>
                <a:ext cx="5139720" cy="2444040"/>
              </a:xfrm>
              <a:prstGeom prst="rect">
                <a:avLst/>
              </a:prstGeom>
              <a:solidFill>
                <a:srgbClr val="FFFFFF"/>
              </a:solidFill>
              <a:ln w="0">
                <a:noFill/>
              </a:ln>
              <a:effectLst>
                <a:outerShdw algn="bl" blurRad="101520" dir="8100000" dist="37674" kx="0" ky="0" rotWithShape="0" sx="100000" sy="100000">
                  <a:srgbClr val="000000">
                    <a:alpha val="10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b">
                <a:noAutofit/>
              </a:bodyPr>
              <a:p>
                <a:endParaRPr lang="pt-BR" sz="1800" b="0" u="none" strike="noStrike">
                  <a:solidFill>
                    <a:srgbClr val="000000"/>
                  </a:solidFill>
                  <a:effectLst/>
                  <a:uFillTx/>
                  <a:latin typeface="Segoe UI"/>
                </a:endParaRPr>
              </a:p>
            </p:txBody>
          </p:sp>
        </p:grpSp>
        <p:sp>
          <p:nvSpPr>
            <p:cNvPr id="336" name=""/>
            <p:cNvSpPr/>
            <p:nvPr/>
          </p:nvSpPr>
          <p:spPr>
            <a:xfrm>
              <a:off x="816840" y="4096800"/>
              <a:ext cx="4941000" cy="363960"/>
            </a:xfrm>
            <a:prstGeom prst="rect">
              <a:avLst/>
            </a:prstGeom>
            <a:noFill/>
            <a:ln w="360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pt-BR" sz="1800" b="1" u="none" strike="noStrike">
                  <a:solidFill>
                    <a:srgbClr val="DC2626"/>
                  </a:solidFill>
                  <a:effectLst/>
                  <a:uFillTx/>
                  <a:latin typeface="Segoe UI"/>
                  <a:ea typeface="Calibri"/>
                </a:rPr>
                <a:t>📋 </a:t>
              </a:r>
              <a:r>
                <a:rPr lang="pt-BR" sz="1800" b="1" u="none" strike="noStrike">
                  <a:solidFill>
                    <a:srgbClr val="813709"/>
                  </a:solidFill>
                  <a:effectLst/>
                  <a:uFillTx/>
                  <a:latin typeface="Segoe UI"/>
                  <a:ea typeface="Calibri"/>
                </a:rPr>
                <a:t>Reclamações</a:t>
              </a:r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7" name=""/>
            <p:cNvSpPr/>
            <p:nvPr/>
          </p:nvSpPr>
          <p:spPr>
            <a:xfrm>
              <a:off x="540000" y="5273640"/>
              <a:ext cx="5281560" cy="486360"/>
            </a:xfrm>
            <a:prstGeom prst="rect">
              <a:avLst/>
            </a:prstGeom>
            <a:noFill/>
            <a:ln w="360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marL="216000" indent="-216000">
                <a:lnSpc>
                  <a:spcPct val="100000"/>
                </a:lnSpc>
                <a:buClr>
                  <a:srgbClr val="666666"/>
                </a:buClr>
                <a:buSzPct val="45000"/>
                <a:buFont typeface="Wingdings" charset="2"/>
                <a:buChar char=""/>
              </a:pPr>
              <a:r>
                <a:rPr lang="pt-BR" sz="1300" b="0" u="none" strike="noStrike">
                  <a:solidFill>
                    <a:srgbClr val="000000"/>
                  </a:solidFill>
                  <a:effectLst/>
                  <a:uFillTx/>
                  <a:latin typeface="Segoe UI"/>
                </a:rPr>
                <a:t>Detratores têm 93% mais reclamações que promotores. Criar fila prioritária para reclamações com mais de 48h sem resolução.</a:t>
              </a:r>
              <a:endParaRPr lang="pt-BR" sz="1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38" name=""/>
          <p:cNvSpPr/>
          <p:nvPr/>
        </p:nvSpPr>
        <p:spPr>
          <a:xfrm>
            <a:off x="720000" y="4644000"/>
            <a:ext cx="5101560" cy="34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140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Reduzir tempo de resolução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39" name=""/>
          <p:cNvGrpSpPr/>
          <p:nvPr/>
        </p:nvGrpSpPr>
        <p:grpSpPr>
          <a:xfrm>
            <a:off x="6120360" y="3960000"/>
            <a:ext cx="5319720" cy="2519640"/>
            <a:chOff x="6120360" y="3960000"/>
            <a:chExt cx="5319720" cy="2519640"/>
          </a:xfrm>
        </p:grpSpPr>
        <p:grpSp>
          <p:nvGrpSpPr>
            <p:cNvPr id="340" name=""/>
            <p:cNvGrpSpPr/>
            <p:nvPr/>
          </p:nvGrpSpPr>
          <p:grpSpPr>
            <a:xfrm>
              <a:off x="6300360" y="3960000"/>
              <a:ext cx="5139720" cy="2519640"/>
              <a:chOff x="6300360" y="3960000"/>
              <a:chExt cx="5139720" cy="2519640"/>
            </a:xfrm>
          </p:grpSpPr>
          <p:sp>
            <p:nvSpPr>
              <p:cNvPr id="341" name=""/>
              <p:cNvSpPr/>
              <p:nvPr/>
            </p:nvSpPr>
            <p:spPr>
              <a:xfrm>
                <a:off x="6300360" y="3960000"/>
                <a:ext cx="5134680" cy="2519640"/>
              </a:xfrm>
              <a:prstGeom prst="rect">
                <a:avLst/>
              </a:prstGeom>
              <a:solidFill>
                <a:srgbClr val="00A933"/>
              </a:solidFill>
              <a:ln w="36000">
                <a:solidFill>
                  <a:srgbClr val="00A933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pt-B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2" name="Shape 52"/>
              <p:cNvSpPr/>
              <p:nvPr/>
            </p:nvSpPr>
            <p:spPr>
              <a:xfrm>
                <a:off x="6300360" y="4035600"/>
                <a:ext cx="5139720" cy="2444040"/>
              </a:xfrm>
              <a:prstGeom prst="rect">
                <a:avLst/>
              </a:prstGeom>
              <a:solidFill>
                <a:srgbClr val="FFFFFF"/>
              </a:solidFill>
              <a:ln w="0">
                <a:noFill/>
              </a:ln>
              <a:effectLst>
                <a:outerShdw algn="bl" blurRad="101520" dir="8100000" dist="37674" kx="0" ky="0" rotWithShape="0" sx="100000" sy="100000">
                  <a:srgbClr val="000000">
                    <a:alpha val="10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b">
                <a:noAutofit/>
              </a:bodyPr>
              <a:p>
                <a:endParaRPr lang="pt-BR" sz="1800" b="0" u="none" strike="noStrike">
                  <a:solidFill>
                    <a:srgbClr val="000000"/>
                  </a:solidFill>
                  <a:effectLst/>
                  <a:uFillTx/>
                  <a:latin typeface="Segoe UI"/>
                </a:endParaRPr>
              </a:p>
            </p:txBody>
          </p:sp>
        </p:grpSp>
        <p:sp>
          <p:nvSpPr>
            <p:cNvPr id="343" name=""/>
            <p:cNvSpPr/>
            <p:nvPr/>
          </p:nvSpPr>
          <p:spPr>
            <a:xfrm>
              <a:off x="6397200" y="4096800"/>
              <a:ext cx="4941000" cy="363960"/>
            </a:xfrm>
            <a:prstGeom prst="rect">
              <a:avLst/>
            </a:prstGeom>
            <a:noFill/>
            <a:ln w="360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pt-BR" sz="1800" b="1" u="none" strike="noStrike">
                  <a:solidFill>
                    <a:srgbClr val="DC2626"/>
                  </a:solidFill>
                  <a:effectLst/>
                  <a:uFillTx/>
                  <a:latin typeface="Segoe UI"/>
                  <a:ea typeface="Calibri"/>
                </a:rPr>
                <a:t>🔁 </a:t>
              </a:r>
              <a:r>
                <a:rPr lang="pt-BR" sz="1800" b="1" u="none" strike="noStrike">
                  <a:solidFill>
                    <a:srgbClr val="00A933"/>
                  </a:solidFill>
                  <a:effectLst/>
                  <a:uFillTx/>
                  <a:latin typeface="Segoe UI"/>
                  <a:ea typeface="Calibri"/>
                </a:rPr>
                <a:t>Retenção</a:t>
              </a:r>
              <a:endPara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4" name=""/>
            <p:cNvSpPr/>
            <p:nvPr/>
          </p:nvSpPr>
          <p:spPr>
            <a:xfrm>
              <a:off x="6120360" y="5273640"/>
              <a:ext cx="5281560" cy="486360"/>
            </a:xfrm>
            <a:prstGeom prst="rect">
              <a:avLst/>
            </a:prstGeom>
            <a:noFill/>
            <a:ln w="360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marL="216000" indent="-216000">
                <a:lnSpc>
                  <a:spcPct val="100000"/>
                </a:lnSpc>
                <a:buClr>
                  <a:srgbClr val="666666"/>
                </a:buClr>
                <a:buSzPct val="45000"/>
                <a:buFont typeface="Wingdings" charset="2"/>
                <a:buChar char=""/>
              </a:pPr>
              <a:r>
                <a:rPr lang="pt-BR" sz="1300" b="0" u="none" strike="noStrike">
                  <a:solidFill>
                    <a:srgbClr val="000000"/>
                  </a:solidFill>
                  <a:effectLst/>
                  <a:uFillTx/>
                  <a:latin typeface="Segoe UI"/>
                </a:rPr>
                <a:t>Usar o modelo preditivo para acionar o time de CRM antes da pesquisa NPS ser enviada.</a:t>
              </a:r>
              <a:endParaRPr lang="pt-BR" sz="1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45" name=""/>
          <p:cNvSpPr/>
          <p:nvPr/>
        </p:nvSpPr>
        <p:spPr>
          <a:xfrm>
            <a:off x="6300360" y="4644000"/>
            <a:ext cx="5101560" cy="34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140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Identificar clientes em risco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Dieizon A. Ferreira ​  RM: 371888​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Picture 5"/>
          <p:cNvPicPr/>
          <p:nvPr/>
        </p:nvPicPr>
        <p:blipFill>
          <a:blip r:embed="rId1"/>
          <a:srcRect l="14679" t="0" r="6" b="5"/>
          <a:stretch/>
        </p:blipFill>
        <p:spPr>
          <a:xfrm>
            <a:off x="-540000" y="-1647720"/>
            <a:ext cx="12732120" cy="1193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7" name="PlaceHolder 1"/>
          <p:cNvSpPr>
            <a:spLocks noGrp="1"/>
          </p:cNvSpPr>
          <p:nvPr>
            <p:ph type="subTitle"/>
          </p:nvPr>
        </p:nvSpPr>
        <p:spPr>
          <a:xfrm>
            <a:off x="612720" y="808920"/>
            <a:ext cx="10653480" cy="513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111111"/>
                </a:solidFill>
                <a:effectLst/>
                <a:highlight>
                  <a:srgbClr val="EEEEEE"/>
                </a:highlight>
                <a:uFillTx/>
                <a:latin typeface="Segoe UI"/>
              </a:rPr>
              <a:t>Limitações e riscos</a:t>
            </a:r>
            <a:endParaRPr lang="pt-B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Dieizon A. Ferreira ​  RM: 371888​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"/>
          <p:cNvSpPr/>
          <p:nvPr/>
        </p:nvSpPr>
        <p:spPr>
          <a:xfrm>
            <a:off x="539280" y="261720"/>
            <a:ext cx="11340360" cy="638280"/>
          </a:xfrm>
          <a:prstGeom prst="rect">
            <a:avLst/>
          </a:prstGeom>
          <a:noFill/>
          <a:ln w="36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6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Calibri"/>
              </a:rPr>
              <a:t>⚠️</a:t>
            </a:r>
            <a:endParaRPr lang="pt-B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"/>
          <p:cNvSpPr/>
          <p:nvPr/>
        </p:nvSpPr>
        <p:spPr>
          <a:xfrm>
            <a:off x="554760" y="1080000"/>
            <a:ext cx="5559480" cy="5399640"/>
          </a:xfrm>
          <a:prstGeom prst="rect">
            <a:avLst/>
          </a:prstGeom>
          <a:solidFill>
            <a:srgbClr val="FFFFFF"/>
          </a:solidFill>
          <a:ln w="360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52"/>
          <p:cNvSpPr/>
          <p:nvPr/>
        </p:nvSpPr>
        <p:spPr>
          <a:xfrm>
            <a:off x="554760" y="1242000"/>
            <a:ext cx="5564880" cy="5237640"/>
          </a:xfrm>
          <a:prstGeom prst="rect">
            <a:avLst/>
          </a:prstGeom>
          <a:solidFill>
            <a:srgbClr val="000000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"/>
            </a:endParaRPr>
          </a:p>
        </p:txBody>
      </p:sp>
      <p:sp>
        <p:nvSpPr>
          <p:cNvPr id="351" name=""/>
          <p:cNvSpPr/>
          <p:nvPr/>
        </p:nvSpPr>
        <p:spPr>
          <a:xfrm>
            <a:off x="720000" y="1224000"/>
            <a:ext cx="521964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2000" b="1" u="none" strike="noStrike">
                <a:solidFill>
                  <a:srgbClr val="FFFFFF"/>
                </a:solidFill>
                <a:effectLst/>
                <a:uFillTx/>
                <a:latin typeface="Segoe UI"/>
              </a:rPr>
              <a:t>Base pequena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"/>
          <p:cNvSpPr/>
          <p:nvPr/>
        </p:nvSpPr>
        <p:spPr>
          <a:xfrm>
            <a:off x="720000" y="1584000"/>
            <a:ext cx="503964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1600" b="0" u="none" strike="noStrike">
                <a:solidFill>
                  <a:srgbClr val="FFFFFF"/>
                </a:solidFill>
                <a:effectLst/>
                <a:uFillTx/>
                <a:latin typeface="Segoe UI"/>
              </a:rPr>
              <a:t>2.500 registros. Grupos com 6+ dias de atraso têm apenas 3 - 34 amostras.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"/>
          <p:cNvSpPr/>
          <p:nvPr/>
        </p:nvSpPr>
        <p:spPr>
          <a:xfrm>
            <a:off x="720000" y="2304000"/>
            <a:ext cx="5219640" cy="5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2000" b="1" u="none" strike="noStrike">
                <a:solidFill>
                  <a:srgbClr val="FFFFFF"/>
                </a:solidFill>
                <a:effectLst/>
                <a:uFillTx/>
                <a:latin typeface="Segoe UI"/>
              </a:rPr>
              <a:t>Data leakage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"/>
          <p:cNvSpPr/>
          <p:nvPr/>
        </p:nvSpPr>
        <p:spPr>
          <a:xfrm>
            <a:off x="720000" y="2736000"/>
            <a:ext cx="5219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1600" b="0" u="none" strike="noStrike">
                <a:solidFill>
                  <a:srgbClr val="FFFFFF"/>
                </a:solidFill>
                <a:effectLst/>
                <a:uFillTx/>
                <a:latin typeface="Segoe UI"/>
              </a:rPr>
              <a:t>csat_internal_score não pode ser usada como variável preditora se derivar do próprio NPS.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"/>
          <p:cNvSpPr/>
          <p:nvPr/>
        </p:nvSpPr>
        <p:spPr>
          <a:xfrm>
            <a:off x="720000" y="4805280"/>
            <a:ext cx="5399640" cy="5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2000" b="1" u="none" strike="noStrike">
                <a:solidFill>
                  <a:srgbClr val="FFFFFF"/>
                </a:solidFill>
                <a:effectLst/>
                <a:uFillTx/>
                <a:latin typeface="Segoe UI"/>
              </a:rPr>
              <a:t>Viés temporal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"/>
          <p:cNvSpPr/>
          <p:nvPr/>
        </p:nvSpPr>
        <p:spPr>
          <a:xfrm>
            <a:off x="720000" y="5292000"/>
            <a:ext cx="5405040" cy="9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1600" b="0" u="none" strike="noStrike">
                <a:solidFill>
                  <a:srgbClr val="FFFFFF"/>
                </a:solidFill>
                <a:effectLst/>
                <a:uFillTx/>
                <a:latin typeface="Segoe UI"/>
              </a:rPr>
              <a:t>O modelo precisa ser retreinado periodicamente. Comportamento de clientes muda com sazonalidade e operações.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"/>
          <p:cNvSpPr/>
          <p:nvPr/>
        </p:nvSpPr>
        <p:spPr>
          <a:xfrm>
            <a:off x="720000" y="3604320"/>
            <a:ext cx="5394240" cy="5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2000" b="1" u="none" strike="noStrike">
                <a:solidFill>
                  <a:srgbClr val="FFFFFF"/>
                </a:solidFill>
                <a:effectLst/>
                <a:uFillTx/>
                <a:latin typeface="Segoe UI"/>
              </a:rPr>
              <a:t>Causalidade vs. correlação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"/>
          <p:cNvSpPr/>
          <p:nvPr/>
        </p:nvSpPr>
        <p:spPr>
          <a:xfrm>
            <a:off x="714600" y="3960000"/>
            <a:ext cx="5399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1600" b="0" u="none" strike="noStrike">
                <a:solidFill>
                  <a:srgbClr val="FFFFFF"/>
                </a:solidFill>
                <a:effectLst/>
                <a:uFillTx/>
                <a:latin typeface="Segoe UI"/>
              </a:rPr>
              <a:t>A análise mostra associações. Reclamações altas podem ser consequência, não causa, do problema original.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2"/>
          <p:cNvSpPr/>
          <p:nvPr/>
        </p:nvSpPr>
        <p:spPr>
          <a:xfrm>
            <a:off x="7020000" y="900000"/>
            <a:ext cx="413964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Calibri"/>
              </a:rPr>
              <a:t>Conclusão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7"/>
          <p:cNvSpPr/>
          <p:nvPr/>
        </p:nvSpPr>
        <p:spPr>
          <a:xfrm>
            <a:off x="7480080" y="1482480"/>
            <a:ext cx="3219480" cy="417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20" rIns="90000" bIns="-252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4"/>
          <p:cNvSpPr/>
          <p:nvPr/>
        </p:nvSpPr>
        <p:spPr>
          <a:xfrm>
            <a:off x="7020000" y="1694520"/>
            <a:ext cx="413964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Calibri"/>
              </a:rPr>
              <a:t>A satisfação do cliente não depende de quem ele é, depende do que ele viveu.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15"/>
          <p:cNvSpPr/>
          <p:nvPr/>
        </p:nvSpPr>
        <p:spPr>
          <a:xfrm>
            <a:off x="7020000" y="2753280"/>
            <a:ext cx="4139640" cy="852120"/>
          </a:xfrm>
          <a:prstGeom prst="rect">
            <a:avLst/>
          </a:prstGeom>
          <a:solidFill>
            <a:srgbClr val="000000"/>
          </a:solidFill>
          <a:ln w="0">
            <a:solidFill>
              <a:srgbClr val="FFFFFF"/>
            </a:solidFill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"/>
          <p:cNvSpPr/>
          <p:nvPr/>
        </p:nvSpPr>
        <p:spPr>
          <a:xfrm>
            <a:off x="7020000" y="2753280"/>
            <a:ext cx="1724400" cy="85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Calibri"/>
              </a:rPr>
              <a:t>1 dia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6"/>
          <p:cNvSpPr/>
          <p:nvPr/>
        </p:nvSpPr>
        <p:spPr>
          <a:xfrm>
            <a:off x="8745120" y="2753280"/>
            <a:ext cx="2414520" cy="85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Calibri"/>
              </a:rPr>
              <a:t>de atraso já gera maioria de detratores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9"/>
          <p:cNvSpPr/>
          <p:nvPr/>
        </p:nvSpPr>
        <p:spPr>
          <a:xfrm>
            <a:off x="7020000" y="3740400"/>
            <a:ext cx="4139640" cy="852480"/>
          </a:xfrm>
          <a:prstGeom prst="rect">
            <a:avLst/>
          </a:prstGeom>
          <a:solidFill>
            <a:srgbClr val="000000"/>
          </a:solidFill>
          <a:ln w="0">
            <a:solidFill>
              <a:srgbClr val="FFFFFF"/>
            </a:solidFill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8"/>
          <p:cNvSpPr/>
          <p:nvPr/>
        </p:nvSpPr>
        <p:spPr>
          <a:xfrm>
            <a:off x="7020000" y="3740400"/>
            <a:ext cx="1724400" cy="85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Calibri"/>
              </a:rPr>
              <a:t>−0.60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20"/>
          <p:cNvSpPr/>
          <p:nvPr/>
        </p:nvSpPr>
        <p:spPr>
          <a:xfrm>
            <a:off x="8745120" y="3740400"/>
            <a:ext cx="2414520" cy="85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Calibri"/>
              </a:rPr>
              <a:t>Maior correlação: Dias de atraso na entrega vs NPS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21"/>
          <p:cNvSpPr/>
          <p:nvPr/>
        </p:nvSpPr>
        <p:spPr>
          <a:xfrm>
            <a:off x="7020000" y="4727880"/>
            <a:ext cx="4139640" cy="852120"/>
          </a:xfrm>
          <a:prstGeom prst="rect">
            <a:avLst/>
          </a:prstGeom>
          <a:solidFill>
            <a:srgbClr val="000000"/>
          </a:solidFill>
          <a:ln w="0">
            <a:solidFill>
              <a:srgbClr val="FFFFFF"/>
            </a:solidFill>
          </a:ln>
          <a:effectLst>
            <a:outerShdw algn="bl" blurRad="101520" dir="81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22"/>
          <p:cNvSpPr/>
          <p:nvPr/>
        </p:nvSpPr>
        <p:spPr>
          <a:xfrm>
            <a:off x="7020000" y="4727880"/>
            <a:ext cx="1724400" cy="85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Calibri"/>
              </a:rPr>
              <a:t>74%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8"/>
          <p:cNvSpPr/>
          <p:nvPr/>
        </p:nvSpPr>
        <p:spPr>
          <a:xfrm>
            <a:off x="8745120" y="4727880"/>
            <a:ext cx="2414520" cy="85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Calibri"/>
              </a:rPr>
              <a:t>da base são detratores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24"/>
          <p:cNvSpPr/>
          <p:nvPr/>
        </p:nvSpPr>
        <p:spPr>
          <a:xfrm>
            <a:off x="6987960" y="5883480"/>
            <a:ext cx="4139640" cy="40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Calibri"/>
              </a:rPr>
              <a:t>Com um modelo preditivo, podemos agir antes, não depois.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title"/>
          </p:nvPr>
        </p:nvSpPr>
        <p:spPr>
          <a:xfrm>
            <a:off x="612720" y="548640"/>
            <a:ext cx="10653480" cy="113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36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Crédito assets</a:t>
            </a:r>
            <a:endParaRPr lang="en-US" sz="36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373" name="PlaceHolder 2"/>
          <p:cNvSpPr>
            <a:spLocks noGrp="1"/>
          </p:cNvSpPr>
          <p:nvPr>
            <p:ph/>
          </p:nvPr>
        </p:nvSpPr>
        <p:spPr>
          <a:xfrm>
            <a:off x="612720" y="1715400"/>
            <a:ext cx="10653480" cy="459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&lt;a href="https://www.flaticon.com/br/icones-gratis/objetivo" title="objetivo ícones"&gt;Objetivo ícones criados por Freepik - Flaticon&lt;/a&gt;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&lt;a href="https://www.flaticon.com/br/icones-gratis/produtos" title="produtos ícones"&gt;Produtos ícones criados por Freepik - Flaticon&lt;/a&gt;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&lt;a href="https://www.flaticon.com/br/icones-gratis/problema" title="problema ícones"&gt;Problema ícones criados por Freepik - Flaticon&lt;/a&gt;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&lt;a href="https://www.flaticon.com/br/icones-gratis/logistica" title="logística ícones"&gt;Logística ícones criados por Eucalyp - Flaticon&lt;/a&gt;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&lt;a href="https://www.flaticon.com/br/icones-gratis/atendimento-ao-cliente" title="atendimento ao cliente ícones"&gt;Atendimento ao cliente </a:t>
            </a: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ícones criados por Freepik - Flaticon&lt;/a&gt;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&lt;a href="https://www.flaticon.com/br/icones-gratis/produtos" title="produtos ícones"&gt;Produtos ícones criados por Iconjam - Flaticon&lt;/a&gt;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&lt;a href="https://www.flaticon.com/br/icones-gratis/dinheiro" title="dinheiro ícones"&gt;Dinheiro ícones criados por Gregor Cresnar - Flaticon&lt;/a&gt;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&lt;a href="https://www.flaticon.com/br/icones-gratis/recompra" title="recompra ícones"&gt;Recompra ícones criados por bearicons - Flaticon&lt;/a&gt;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&lt;a href="https://www.flaticon.com/br/icones-gratis/falando" title="falando ícones"&gt;Falando ícones criados por yut1655 – Flaticon&lt;/a&gt;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&lt;a href="https://www.flaticon.com/br/icones-gratis/quota-de-mercado" title="quota de mercado ícones"&gt;Quota de mercado ícones criados por </a:t>
            </a: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small.smiles - Flaticon&lt;/a&gt;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Dieizon A. Ferreira ​  RM: 371888​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612720" y="548640"/>
            <a:ext cx="10653480" cy="113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36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Links de referencia</a:t>
            </a:r>
            <a:endParaRPr lang="en-US" sz="36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/>
          </p:nvPr>
        </p:nvSpPr>
        <p:spPr>
          <a:xfrm>
            <a:off x="612720" y="1715400"/>
            <a:ext cx="10653480" cy="459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Benchmark NPS: </a:t>
            </a: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  <a:hlinkClick r:id="rId1"/>
              </a:rPr>
              <a:t>https://www.opinionbox.com/nps/segmentos-avaliados/e-commerce-e-marketplaces/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Benchmark Recompra: </a:t>
            </a: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  <a:hlinkClick r:id="rId2"/>
              </a:rPr>
              <a:t>https://www.prax.ai/blog/benchmarks-ecommerce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Prazo de entrega (Não encontrei fontes relevantes): Estudo feito por conta própria, considerando 1 capital, 1 cidade e 1 interior para cada região usando 1 produto como exemplo em 3 grandes e-commerces diferentes, dados disponíveis em: https://github.com/p-teco/1IAST-Fase-1-Tech-Challenge/blob/main/bench_prazo_entrega.ods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Segoe UI"/>
                <a:ea typeface="Neue Haas Grotesk Text Pro"/>
              </a:rPr>
              <a:t>CSAT : https://useconverge.app/benchmarks/csat-score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Dieizon A. Ferreira ​  RM: 371888​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"/>
          <p:cNvSpPr/>
          <p:nvPr/>
        </p:nvSpPr>
        <p:spPr>
          <a:xfrm>
            <a:off x="1080000" y="1620000"/>
            <a:ext cx="10259640" cy="43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6600" b="0" u="none" strike="noStrike">
                <a:solidFill>
                  <a:srgbClr val="FFFFFF"/>
                </a:solidFill>
                <a:effectLst/>
                <a:uFillTx/>
                <a:latin typeface="Segoe UI"/>
              </a:rPr>
              <a:t>Obrigado!</a:t>
            </a:r>
            <a:endParaRPr lang="pt-BR" sz="6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pt-BR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pt-BR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3200" b="0" u="none" strike="noStrike">
                <a:solidFill>
                  <a:srgbClr val="FFFFFF"/>
                </a:solidFill>
                <a:effectLst/>
                <a:uFillTx/>
                <a:latin typeface="Segoe UI"/>
              </a:rPr>
              <a:t>Dieizon A. Ferreira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3200" b="0" u="none" strike="noStrike">
                <a:solidFill>
                  <a:srgbClr val="FFFFFF"/>
                </a:solidFill>
                <a:effectLst/>
                <a:uFillTx/>
                <a:latin typeface="Segoe UI"/>
              </a:rPr>
              <a:t>RM: 371888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VanillaVTI">
  <a:themeElements>
    <a:clrScheme name="VanillaVTI">
      <a:dk1>
        <a:srgbClr val="000000"/>
      </a:dk1>
      <a:lt1>
        <a:srgbClr val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VanillaVTI">
      <a:majorFont>
        <a:latin typeface="Neue Haas Grotesk Text Pro" pitchFamily="0" charset="1"/>
        <a:ea typeface=""/>
        <a:cs typeface=""/>
      </a:majorFont>
      <a:minorFont>
        <a:latin typeface="Neue Haas Grotesk Text Pr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anillaVTI">
  <a:themeElements>
    <a:clrScheme name="VanillaVTI">
      <a:dk1>
        <a:srgbClr val="000000"/>
      </a:dk1>
      <a:lt1>
        <a:srgbClr val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VanillaVTI">
      <a:majorFont>
        <a:latin typeface="Neue Haas Grotesk Text Pro" pitchFamily="0" charset="1"/>
        <a:ea typeface=""/>
        <a:cs typeface=""/>
      </a:majorFont>
      <a:minorFont>
        <a:latin typeface="Neue Haas Grotesk Text Pr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476</TotalTime>
  <Application>LibreOffice/26.2.1.2$Windows_X86_64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2026-04-29T23:28:22Z</dcterms:created>
  <dc:creator/>
  <dc:description/>
  <dc:language>pt-BR</dc:language>
  <cp:lastModifiedBy/>
  <cp:lastPrinted>2026-05-03T15:05:34Z</cp:lastPrinted>
  <dcterms:modified xsi:type="dcterms:W3CDTF">2026-05-03T19:42:40Z</dcterms:modified>
  <cp:revision>632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7</vt:i4>
  </property>
</Properties>
</file>